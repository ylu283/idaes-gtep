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64" r:id="rId5"/>
    <p:sldId id="265" r:id="rId6"/>
    <p:sldId id="266" r:id="rId7"/>
    <p:sldId id="267" r:id="rId8"/>
    <p:sldId id="268" r:id="rId9"/>
    <p:sldId id="273" r:id="rId10"/>
    <p:sldId id="260" r:id="rId11"/>
    <p:sldId id="261" r:id="rId12"/>
    <p:sldId id="263" r:id="rId13"/>
    <p:sldId id="270" r:id="rId14"/>
    <p:sldId id="271" r:id="rId15"/>
    <p:sldId id="275" r:id="rId16"/>
    <p:sldId id="276" r:id="rId17"/>
    <p:sldId id="274" r:id="rId18"/>
    <p:sldId id="27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06"/>
    <p:restoredTop sz="94660"/>
  </p:normalViewPr>
  <p:slideViewPr>
    <p:cSldViewPr snapToGrid="0" snapToObjects="1">
      <p:cViewPr varScale="1">
        <p:scale>
          <a:sx n="118" d="100"/>
          <a:sy n="118" d="100"/>
        </p:scale>
        <p:origin x="1192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6870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7F94A-EAC6-EB14-E55C-A662D0BB0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DFAE25-CB17-8A54-A438-79776749C0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F54C30-5E01-A695-2EF3-773704A085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63A2FC-B908-99C5-153C-29D22A2305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0377592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FA427-DF18-8B68-BB19-544DB695F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64C799-0AB4-0916-E9A7-01D4701D46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B8BEC6-CB58-9892-934C-0BF85ADD2A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paper uses explicit fixed-commitment re-solve for dual prices; Prescient prices come from its integrated RUC/SCED market engine.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A7A8EB-6A7D-E303-7B5B-68AF5EA300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8484608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1BB53-546E-571E-C36B-33B7105F4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C41B22-3427-FC8B-3C73-C187A39991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A4FA35-570B-0E53-EE13-0DFDB9B14B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BF3681-3A04-F520-990E-29A43F657F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7091932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35A5D-7FDC-2430-4A60-9DEEC5C24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8E5111-6BD2-9067-765C-0516B68721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6538D2-6AF5-7CB5-9BE4-F243D6690A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F58153-EB8C-2D8F-9A08-B9C374EFD5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608343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56CA1-341F-1AFE-9117-E0AC7E583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4565B4-0664-1320-E492-E7C0C8990C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27EFB0-CFC8-5B07-D059-F8AB1FC9E9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BF4B14-B7EC-CC1A-3453-7287D6D7A7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480341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A8948-97DC-A9A8-43F2-54B1F4AAD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DC8154-5496-EDAB-7930-7EA9CC6948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51D2ED-D6F8-914A-4E31-1F654147F8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08FB14-0C15-7B90-9B8A-47FE55811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2730664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Source: /Users/yilu/Documents/GitHub/idaes-gtep/quality_reports/curtailment_penalty_experiment_setup_2026-02-28.md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closing slide is for meeting decisions and near-term execution commitments.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85265-9C20-3EE3-ECC9-7FA8E0BA5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95399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BD466-E3B9-157A-163B-D14AE81A3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50165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E02EC-116A-1E58-C732-EAEA352D1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61851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100" b="1">
                <a:solidFill>
                  <a:srgbClr val="FFFFFF"/>
                </a:solidFill>
              </a:defRPr>
            </a:pPr>
            <a:r>
              <a:t>Prescient PCM vs Paper UC: Benchmarking Status and Effort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pPr algn="l">
              <a:defRPr sz="1600" i="1">
                <a:solidFill>
                  <a:srgbClr val="CCDDEE"/>
                </a:solidFill>
              </a:defRPr>
            </a:pPr>
            <a:r>
              <a:t>TX-123BT ERCOT | Collaborator/Supervisor Update | March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200" b="0">
                <a:solidFill>
                  <a:srgbClr val="333333"/>
                </a:solidFill>
              </a:rPr>
              <a:t>Purpose: estimate effort needed to align Prescient PCM with paper UC benchmark.</a:t>
            </a:r>
          </a:p>
          <a:p>
            <a:pPr>
              <a:spcAft>
                <a:spcPts val="500"/>
              </a:spcAft>
            </a:pPr>
            <a:r>
              <a:rPr sz="2200" b="0">
                <a:solidFill>
                  <a:srgbClr val="333333"/>
                </a:solidFill>
              </a:rPr>
              <a:t>Coverage: model-difference audit, curtailment experiment status, hydro Q1 benchmark signal.</a:t>
            </a:r>
          </a:p>
          <a:p>
            <a:pPr>
              <a:spcAft>
                <a:spcPts val="500"/>
              </a:spcAft>
            </a:pPr>
            <a:r>
              <a:rPr sz="2200" b="0">
                <a:solidFill>
                  <a:srgbClr val="333333"/>
                </a:solidFill>
              </a:rPr>
              <a:t>Decision focus: where to invest benchmarking effort next.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IDAES-GTEP | Benchmarking update section (~20 minutes)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100" b="1">
                <a:solidFill>
                  <a:srgbClr val="FFFFFF"/>
                </a:solidFill>
              </a:defRPr>
            </a:pPr>
            <a:r>
              <a:rPr lang="en-GB" dirty="0"/>
              <a:t>Updates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pPr algn="l">
              <a:defRPr sz="1600" i="1">
                <a:solidFill>
                  <a:srgbClr val="CCDDEE"/>
                </a:solidFill>
              </a:defRPr>
            </a:pP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1874520"/>
            <a:ext cx="8316686" cy="1267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lang="en-GB" sz="1700" b="0" dirty="0">
                <a:solidFill>
                  <a:srgbClr val="333333"/>
                </a:solidFill>
              </a:rPr>
              <a:t>Comparing paper’s </a:t>
            </a:r>
            <a:r>
              <a:rPr lang="en-GB" sz="1700" b="0" dirty="0" err="1">
                <a:solidFill>
                  <a:srgbClr val="333333"/>
                </a:solidFill>
              </a:rPr>
              <a:t>pyomo</a:t>
            </a:r>
            <a:r>
              <a:rPr lang="en-GB" sz="1700" b="0" dirty="0">
                <a:solidFill>
                  <a:srgbClr val="333333"/>
                </a:solidFill>
              </a:rPr>
              <a:t> and our PCM, main d</a:t>
            </a:r>
            <a:r>
              <a:rPr sz="1700" b="0" dirty="0">
                <a:solidFill>
                  <a:srgbClr val="333333"/>
                </a:solidFill>
              </a:rPr>
              <a:t>differences</a:t>
            </a:r>
            <a:r>
              <a:rPr lang="en-GB" sz="1700" dirty="0">
                <a:solidFill>
                  <a:srgbClr val="333333"/>
                </a:solidFill>
              </a:rPr>
              <a:t> are</a:t>
            </a:r>
            <a:r>
              <a:rPr sz="1700" b="0" dirty="0">
                <a:solidFill>
                  <a:srgbClr val="333333"/>
                </a:solidFill>
              </a:rPr>
              <a:t> renewable treatment, chronology, pricing workflow.</a:t>
            </a:r>
          </a:p>
          <a:p>
            <a:pPr>
              <a:spcAft>
                <a:spcPts val="500"/>
              </a:spcAft>
            </a:pPr>
            <a:r>
              <a:rPr lang="en-GB" sz="1700" b="0" dirty="0">
                <a:solidFill>
                  <a:srgbClr val="F39C12"/>
                </a:solidFill>
              </a:rPr>
              <a:t>[update] </a:t>
            </a:r>
            <a:r>
              <a:rPr sz="1700" b="0" dirty="0">
                <a:solidFill>
                  <a:srgbClr val="F39C12"/>
                </a:solidFill>
              </a:rPr>
              <a:t>Hydro inclusion in Q1 did not materially improve alignment to paper behavior.</a:t>
            </a:r>
            <a:endParaRPr lang="en-GB" sz="1700" b="0" dirty="0">
              <a:solidFill>
                <a:srgbClr val="F39C12"/>
              </a:solidFill>
            </a:endParaRPr>
          </a:p>
          <a:p>
            <a:pPr>
              <a:spcAft>
                <a:spcPts val="500"/>
              </a:spcAft>
            </a:pPr>
            <a:r>
              <a:rPr lang="en-US" sz="1700" dirty="0">
                <a:solidFill>
                  <a:srgbClr val="F39C12"/>
                </a:solidFill>
              </a:rPr>
              <a:t>[update] I updated curtailment implementation and redo a Q1, it is still running after 4 days. </a:t>
            </a:r>
            <a:endParaRPr sz="1700" b="0" dirty="0">
              <a:solidFill>
                <a:srgbClr val="F39C1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100" b="1">
                <a:solidFill>
                  <a:srgbClr val="FFFFFF"/>
                </a:solidFill>
              </a:defRPr>
            </a:pPr>
            <a:r>
              <a:t>Paper UC vs Prescient PCM: Comparison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pPr algn="l">
              <a:defRPr sz="1600" i="1">
                <a:solidFill>
                  <a:srgbClr val="CCDDEE"/>
                </a:solidFill>
              </a:defRPr>
            </a:pPr>
            <a:r>
              <a:rPr lang="en-GB" dirty="0"/>
              <a:t> model comparison </a:t>
            </a:r>
            <a:endParaRPr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686503"/>
              </p:ext>
            </p:extLst>
          </p:nvPr>
        </p:nvGraphicFramePr>
        <p:xfrm>
          <a:off x="457200" y="1874520"/>
          <a:ext cx="10199913" cy="9666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99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9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999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332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Paper model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Our Prescient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Renewables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Subtracted from load (net-load)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Explicit generators in clearing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9E6B019E-99DD-BAAA-6ADE-1BCDE8D475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17373"/>
            <a:ext cx="5104347" cy="27734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F5A1F3E-57CD-344F-E81C-BF0F00452A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0" y="2895601"/>
            <a:ext cx="4779793" cy="25472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AEE9204-629E-F1BD-7D9B-C774D4C12C16}"/>
              </a:ext>
            </a:extLst>
          </p:cNvPr>
          <p:cNvSpPr txBox="1"/>
          <p:nvPr/>
        </p:nvSpPr>
        <p:spPr>
          <a:xfrm>
            <a:off x="5557156" y="5760720"/>
            <a:ext cx="61395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highlight>
                  <a:srgbClr val="00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aper removed wind/solar from demand before optimization; Prescient keeps renewable units explicit in market clearing.</a:t>
            </a:r>
            <a:endParaRPr lang="en-US" dirty="0">
              <a:highlight>
                <a:srgbClr val="00FFFF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409C5-C55B-C84C-E54B-DA96F3A95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9134544-59B7-05B0-9768-32FF6E8EDAC8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100" b="1">
                <a:solidFill>
                  <a:srgbClr val="FFFFFF"/>
                </a:solidFill>
              </a:defRPr>
            </a:pPr>
            <a:r>
              <a:t>Paper UC vs Prescient PCM: Comparison Matrix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443A48-735C-AF8F-49B9-126830682B8E}"/>
              </a:ext>
            </a:extLst>
          </p:cNvPr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pPr algn="l">
              <a:defRPr sz="1600" i="1">
                <a:solidFill>
                  <a:srgbClr val="CCDDEE"/>
                </a:solidFill>
              </a:defRPr>
            </a:pPr>
            <a:r>
              <a:rPr lang="en-GB" dirty="0"/>
              <a:t> model comparison 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8A86A98-E57F-00F5-7B69-2F9D0ABFF0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7795028"/>
              </p:ext>
            </p:extLst>
          </p:nvPr>
        </p:nvGraphicFramePr>
        <p:xfrm>
          <a:off x="457200" y="1874520"/>
          <a:ext cx="10199913" cy="9666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99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9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999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332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Paper model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Our Prescient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Curtailment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Free relief variable in balance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Penalty/cap mediated behavior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354D5E32-0AE1-B6FE-B7D8-CA6AEB52B5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20123"/>
            <a:ext cx="6346219" cy="29405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305AC3E-F8CC-E84B-A5D8-485B259B60C0}"/>
              </a:ext>
            </a:extLst>
          </p:cNvPr>
          <p:cNvSpPr txBox="1"/>
          <p:nvPr/>
        </p:nvSpPr>
        <p:spPr>
          <a:xfrm>
            <a:off x="265612" y="5628178"/>
            <a:ext cx="7898674" cy="1269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dirty="0">
                <a:solidFill>
                  <a:srgbClr val="333333"/>
                </a:solidFill>
                <a:highlight>
                  <a:srgbClr val="00FFFF"/>
                </a:highlight>
              </a:rPr>
              <a:t>Wind/solar are subtracted from demand first to form net load (`</a:t>
            </a:r>
            <a:r>
              <a:rPr sz="1600" b="0" dirty="0" err="1">
                <a:solidFill>
                  <a:srgbClr val="333333"/>
                </a:solidFill>
                <a:highlight>
                  <a:srgbClr val="00FFFF"/>
                </a:highlight>
              </a:rPr>
              <a:t>load_b_t</a:t>
            </a:r>
            <a:r>
              <a:rPr sz="1600" b="0" dirty="0">
                <a:solidFill>
                  <a:srgbClr val="333333"/>
                </a:solidFill>
                <a:highlight>
                  <a:srgbClr val="00FFFF"/>
                </a:highlight>
              </a:rPr>
              <a:t>`).</a:t>
            </a:r>
          </a:p>
          <a:p>
            <a:pPr>
              <a:spcAft>
                <a:spcPts val="500"/>
              </a:spcAft>
            </a:pPr>
            <a:r>
              <a:rPr sz="1600" b="1" dirty="0">
                <a:solidFill>
                  <a:srgbClr val="333333"/>
                </a:solidFill>
                <a:highlight>
                  <a:srgbClr val="00FFFF"/>
                </a:highlight>
              </a:rPr>
              <a:t>`</a:t>
            </a:r>
            <a:r>
              <a:rPr sz="1600" b="1" dirty="0" err="1">
                <a:solidFill>
                  <a:srgbClr val="333333"/>
                </a:solidFill>
                <a:highlight>
                  <a:srgbClr val="00FFFF"/>
                </a:highlight>
              </a:rPr>
              <a:t>rnwcur_b_t</a:t>
            </a:r>
            <a:r>
              <a:rPr sz="1600" b="1" dirty="0">
                <a:solidFill>
                  <a:srgbClr val="333333"/>
                </a:solidFill>
                <a:highlight>
                  <a:srgbClr val="00FFFF"/>
                </a:highlight>
              </a:rPr>
              <a:t>` is a nonnegative slack on nodal balance.</a:t>
            </a:r>
            <a:endParaRPr sz="1600" b="0" dirty="0">
              <a:solidFill>
                <a:srgbClr val="333333"/>
              </a:solidFill>
              <a:highlight>
                <a:srgbClr val="00FFFF"/>
              </a:highlight>
            </a:endParaRPr>
          </a:p>
          <a:p>
            <a:pPr>
              <a:spcAft>
                <a:spcPts val="500"/>
              </a:spcAft>
            </a:pPr>
            <a:r>
              <a:rPr sz="1600" b="0" dirty="0">
                <a:solidFill>
                  <a:srgbClr val="333333"/>
                </a:solidFill>
              </a:rPr>
              <a:t>Objective excludes direct curtailment cost term.</a:t>
            </a:r>
          </a:p>
          <a:p>
            <a:pPr>
              <a:spcAft>
                <a:spcPts val="500"/>
              </a:spcAft>
            </a:pPr>
            <a:r>
              <a:rPr lang="en-US" altLang="zh-CN" sz="1600" b="1" dirty="0">
                <a:solidFill>
                  <a:srgbClr val="F39C12"/>
                </a:solidFill>
              </a:rPr>
              <a:t>p</a:t>
            </a:r>
            <a:r>
              <a:rPr sz="1600" b="1" dirty="0">
                <a:solidFill>
                  <a:srgbClr val="F39C12"/>
                </a:solidFill>
              </a:rPr>
              <a:t>aper curtailment is balancing relief, not explicit renewable market-bid economics.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8C8F12-57BD-EFCF-57B6-0F4DA0DE9E4D}"/>
              </a:ext>
            </a:extLst>
          </p:cNvPr>
          <p:cNvSpPr txBox="1"/>
          <p:nvPr/>
        </p:nvSpPr>
        <p:spPr>
          <a:xfrm>
            <a:off x="6995006" y="2965097"/>
            <a:ext cx="3757749" cy="1633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dirty="0">
                <a:solidFill>
                  <a:srgbClr val="333333"/>
                </a:solidFill>
                <a:highlight>
                  <a:srgbClr val="00FFFF"/>
                </a:highlight>
              </a:rPr>
              <a:t>`</a:t>
            </a:r>
            <a:r>
              <a:rPr sz="1600" b="1" dirty="0" err="1">
                <a:solidFill>
                  <a:srgbClr val="333333"/>
                </a:solidFill>
                <a:highlight>
                  <a:srgbClr val="00FFFF"/>
                </a:highlight>
              </a:rPr>
              <a:t>rnwcur_b_t</a:t>
            </a:r>
            <a:r>
              <a:rPr sz="1600" b="1" dirty="0">
                <a:solidFill>
                  <a:srgbClr val="333333"/>
                </a:solidFill>
                <a:highlight>
                  <a:srgbClr val="00FFFF"/>
                </a:highlight>
              </a:rPr>
              <a:t>` </a:t>
            </a:r>
            <a:r>
              <a:rPr lang="en-GB" sz="1600" b="0" dirty="0">
                <a:solidFill>
                  <a:srgbClr val="333333"/>
                </a:solidFill>
              </a:rPr>
              <a:t>will</a:t>
            </a:r>
            <a:r>
              <a:rPr sz="1600" b="0" dirty="0">
                <a:solidFill>
                  <a:srgbClr val="333333"/>
                </a:solidFill>
              </a:rPr>
              <a:t> </a:t>
            </a:r>
            <a:r>
              <a:rPr lang="en-GB" sz="1600" dirty="0">
                <a:solidFill>
                  <a:srgbClr val="333333"/>
                </a:solidFill>
              </a:rPr>
              <a:t>return the absolute value of netload if netload after renew is negative</a:t>
            </a:r>
          </a:p>
          <a:p>
            <a:pPr>
              <a:spcAft>
                <a:spcPts val="500"/>
              </a:spcAft>
            </a:pPr>
            <a:r>
              <a:rPr lang="en-GB" sz="1600" b="1" dirty="0">
                <a:solidFill>
                  <a:srgbClr val="333333"/>
                </a:solidFill>
              </a:rPr>
              <a:t>	it didn’t consider the economic penalty after removing renewable generations </a:t>
            </a:r>
            <a:endParaRPr sz="1600" b="1" dirty="0">
              <a:solidFill>
                <a:srgbClr val="F39C1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5454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79F35-3D1E-F65F-6367-3EE7A4B77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578F873-E6D2-96E6-08E4-AF637FCCEC1E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100" b="1">
                <a:solidFill>
                  <a:srgbClr val="FFFFFF"/>
                </a:solidFill>
              </a:defRPr>
            </a:pPr>
            <a:r>
              <a:t>Paper UC vs Prescient PCM: Comparison Matrix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0947A8-E95A-C535-DD68-4EF281F00083}"/>
              </a:ext>
            </a:extLst>
          </p:cNvPr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pPr algn="l">
              <a:defRPr sz="1600" i="1">
                <a:solidFill>
                  <a:srgbClr val="CCDDEE"/>
                </a:solidFill>
              </a:defRPr>
            </a:pPr>
            <a:r>
              <a:rPr lang="en-GB" dirty="0"/>
              <a:t> model comparison 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5694F29-4222-C4DF-2F3D-949E11E055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0201143"/>
              </p:ext>
            </p:extLst>
          </p:nvPr>
        </p:nvGraphicFramePr>
        <p:xfrm>
          <a:off x="457200" y="1874520"/>
          <a:ext cx="10199913" cy="9666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99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9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999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332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Paper model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Our Prescient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Pricing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Two-pass dual pricing</a:t>
                      </a:r>
                      <a:r>
                        <a:rPr lang="en-GB" dirty="0"/>
                        <a:t>; fixed commitment</a:t>
                      </a:r>
                      <a:endParaRPr dirty="0"/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Integrated RUC/SCED pricing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084DD420-EB14-D62A-C4C1-1AB70BC8CE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32463"/>
            <a:ext cx="6743435" cy="13817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F2FD2C7-8EDA-BE0D-95D6-C7021CD34D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272187"/>
            <a:ext cx="7244176" cy="12681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266CB2-AD15-F831-B9EE-67E47E71B9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5573163"/>
            <a:ext cx="6743433" cy="9693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F8ED705-6B8D-B76E-AF25-E9FDB82792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1376" y="2939775"/>
            <a:ext cx="5740893" cy="111266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5C52DEB-E05D-ECF0-5F55-8ADD91CCE892}"/>
              </a:ext>
            </a:extLst>
          </p:cNvPr>
          <p:cNvSpPr txBox="1"/>
          <p:nvPr/>
        </p:nvSpPr>
        <p:spPr>
          <a:xfrm>
            <a:off x="7701376" y="4288026"/>
            <a:ext cx="426814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lang="en-US" sz="1600" dirty="0">
                <a:highlight>
                  <a:srgbClr val="00FFFF"/>
                </a:highlight>
              </a:rPr>
              <a:t>By fixing the on/off states and running the math again, the paper forces prices to only reflect the pure cost of fuel, which keeps their prices strictly positive. </a:t>
            </a:r>
          </a:p>
        </p:txBody>
      </p:sp>
    </p:spTree>
    <p:extLst>
      <p:ext uri="{BB962C8B-B14F-4D97-AF65-F5344CB8AC3E}">
        <p14:creationId xmlns:p14="http://schemas.microsoft.com/office/powerpoint/2010/main" val="2556345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3A19A-A895-1245-F696-19D0250C9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C57918C-76B5-5315-7D3E-F7A965787161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100" b="1">
                <a:solidFill>
                  <a:srgbClr val="FFFFFF"/>
                </a:solidFill>
              </a:defRPr>
            </a:pPr>
            <a:r>
              <a:t>Paper UC vs Prescient PCM: Comparison Matrix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E62074-C24D-1394-AE07-D8F65F1130EA}"/>
              </a:ext>
            </a:extLst>
          </p:cNvPr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pPr algn="l">
              <a:defRPr sz="1600" i="1">
                <a:solidFill>
                  <a:srgbClr val="CCDDEE"/>
                </a:solidFill>
              </a:defRPr>
            </a:pPr>
            <a:r>
              <a:rPr lang="en-GB" dirty="0"/>
              <a:t> model comparison 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161765B-9573-3D3F-5189-1698E4CFB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3470743"/>
              </p:ext>
            </p:extLst>
          </p:nvPr>
        </p:nvGraphicFramePr>
        <p:xfrm>
          <a:off x="457200" y="1874520"/>
          <a:ext cx="10199913" cy="9666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99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9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999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332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Paper model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Our Prescient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Chronology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Daily runs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Rolling horizons (90d, look-ahead)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1DBFC6B6-E27A-52F1-8A5C-44BDCAE313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3142"/>
          <a:stretch>
            <a:fillRect/>
          </a:stretch>
        </p:blipFill>
        <p:spPr>
          <a:xfrm>
            <a:off x="457200" y="3441313"/>
            <a:ext cx="5252544" cy="10704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37E8FF-1B6B-E8DE-C681-D040B6BBA8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3142"/>
          <a:stretch>
            <a:fillRect/>
          </a:stretch>
        </p:blipFill>
        <p:spPr>
          <a:xfrm>
            <a:off x="6939456" y="3481603"/>
            <a:ext cx="5252544" cy="10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397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0A595-ED8D-3426-9550-453C61517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33C4F22-3703-BDD3-901E-FED3306B2E5A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100" b="1">
                <a:solidFill>
                  <a:srgbClr val="FFFFFF"/>
                </a:solidFill>
              </a:defRPr>
            </a:pPr>
            <a:r>
              <a:t>Paper UC vs Prescient PCM: Comparison Matrix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26E6EA-F783-B7B6-F2F7-4CBA8429CE60}"/>
              </a:ext>
            </a:extLst>
          </p:cNvPr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pPr algn="l">
              <a:defRPr sz="1600" i="1">
                <a:solidFill>
                  <a:srgbClr val="CCDDEE"/>
                </a:solidFill>
              </a:defRPr>
            </a:pPr>
            <a:r>
              <a:rPr lang="en-GB" dirty="0"/>
              <a:t> model comparison 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8176CDC-3FA9-43FE-557C-ED58B29AD1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7926276"/>
              </p:ext>
            </p:extLst>
          </p:nvPr>
        </p:nvGraphicFramePr>
        <p:xfrm>
          <a:off x="457200" y="1874520"/>
          <a:ext cx="10199913" cy="9666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99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9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999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332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Paper model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Our Prescient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Reserves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Custom reserve constraints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 err="1"/>
                        <a:t>reserve_factor</a:t>
                      </a:r>
                      <a:r>
                        <a:rPr dirty="0"/>
                        <a:t> design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107A8680-C660-F324-B3C0-F42A01A581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17" y="3242451"/>
            <a:ext cx="6440214" cy="12124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6A4E06-2C1A-3FA0-8005-6BFC246986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4440" y="3727440"/>
            <a:ext cx="4272430" cy="5787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59D3A87-15FA-1C31-C958-7921F157F794}"/>
              </a:ext>
            </a:extLst>
          </p:cNvPr>
          <p:cNvSpPr txBox="1"/>
          <p:nvPr/>
        </p:nvSpPr>
        <p:spPr>
          <a:xfrm>
            <a:off x="457200" y="4306217"/>
            <a:ext cx="964592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-apple-system"/>
              </a:rPr>
              <a:t>r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eserve requirement structure is not equivalent. The paper's </a:t>
            </a:r>
            <a:r>
              <a:rPr lang="en-US" b="0" i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reserve_tot_f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 constraint enforces an N-1 adequacy form: for every generator </a:t>
            </a:r>
            <a:r>
              <a:rPr lang="en-US" b="0" i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g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, total system reserve must exceed that generator's output plus its own reserve (i.e., the system can withstand losing any single unit). This is structurally different from Prescient's percentage-of-load reserve requirement (</a:t>
            </a:r>
            <a:r>
              <a:rPr lang="en-US" b="0" i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reserve_factor</a:t>
            </a:r>
            <a:r>
              <a:rPr lang="en-US" b="0" i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=0.1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, meaning 10% of load). The paper form is more conservative under high single-unit concentration and less conservative when many small units are online.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214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1A294-4A3F-AF5A-23B8-09CE303C5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830D38C-FBBA-E9D2-8924-D7A6E8E2AECF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100" b="1">
                <a:solidFill>
                  <a:srgbClr val="FFFFFF"/>
                </a:solidFill>
              </a:defRPr>
            </a:pPr>
            <a:r>
              <a:t>Paper UC vs Prescient PCM: Comparison Matrix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B5175B-031B-844B-7CF7-6FBC95721A57}"/>
              </a:ext>
            </a:extLst>
          </p:cNvPr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pPr algn="l">
              <a:defRPr sz="1600" i="1">
                <a:solidFill>
                  <a:srgbClr val="CCDDEE"/>
                </a:solidFill>
              </a:defRPr>
            </a:pPr>
            <a:r>
              <a:rPr lang="en-GB" dirty="0"/>
              <a:t> model comparison 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10B584E-5428-D62B-2324-6562812CD3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3254513"/>
              </p:ext>
            </p:extLst>
          </p:nvPr>
        </p:nvGraphicFramePr>
        <p:xfrm>
          <a:off x="457200" y="1874520"/>
          <a:ext cx="10199913" cy="9666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99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9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999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332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Paper model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Our Prescient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Line ratings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Day-specific / hourly DLR options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RTS-GMLC path unless remapped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E08CCFB9-5A60-6145-344E-B50B55CD5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669" y="2998076"/>
            <a:ext cx="6032500" cy="1219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1821EB-3693-8A24-B247-258F38AEF709}"/>
              </a:ext>
            </a:extLst>
          </p:cNvPr>
          <p:cNvSpPr txBox="1"/>
          <p:nvPr/>
        </p:nvSpPr>
        <p:spPr>
          <a:xfrm>
            <a:off x="6613403" y="3125712"/>
            <a:ext cx="5578597" cy="2005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lang="en-US" dirty="0">
                <a:highlight>
                  <a:srgbClr val="00FFFF"/>
                </a:highlight>
              </a:rPr>
              <a:t>Prescient runs use RTS-GMLC branch data path unless explicitly time-varying mapped.</a:t>
            </a:r>
          </a:p>
          <a:p>
            <a:pPr>
              <a:spcAft>
                <a:spcPts val="500"/>
              </a:spcAft>
            </a:pPr>
            <a:endParaRPr lang="en-US" sz="1600" b="1" dirty="0">
              <a:solidFill>
                <a:srgbClr val="F39C12"/>
              </a:solidFill>
              <a:highlight>
                <a:srgbClr val="00FFFF"/>
              </a:highlight>
            </a:endParaRPr>
          </a:p>
          <a:p>
            <a:pPr>
              <a:spcAft>
                <a:spcPts val="500"/>
              </a:spcAft>
            </a:pPr>
            <a:r>
              <a:rPr lang="en-US" sz="1600" b="1" dirty="0">
                <a:solidFill>
                  <a:srgbClr val="F39C12"/>
                </a:solidFill>
              </a:rPr>
              <a:t>Uses limits that change every day or even every hour (Dynamic Line Ratings). For example, on a cold, windy day, lines cool down faster and can carry more power safely. Prescient is static so easier to get congested</a:t>
            </a:r>
            <a:endParaRPr sz="1600" b="1" dirty="0">
              <a:solidFill>
                <a:srgbClr val="F39C1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9004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5FE89-BFB9-A5E5-C012-BA310CD7D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A701C66-252E-5C82-1F36-EF5E803CC4F7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100" b="1">
                <a:solidFill>
                  <a:srgbClr val="FFFFFF"/>
                </a:solidFill>
              </a:defRPr>
            </a:pPr>
            <a:r>
              <a:t>Paper UC vs Prescient PCM: Comparison Matrix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E09FBD-227A-A073-3E0D-F1EC77FA1561}"/>
              </a:ext>
            </a:extLst>
          </p:cNvPr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pPr algn="l">
              <a:defRPr sz="1600" i="1">
                <a:solidFill>
                  <a:srgbClr val="CCDDEE"/>
                </a:solidFill>
              </a:defRPr>
            </a:pPr>
            <a:r>
              <a:rPr lang="en-GB" dirty="0"/>
              <a:t> model comparison 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A0A43B1-B864-6A74-A4A0-46B1159321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8908128"/>
              </p:ext>
            </p:extLst>
          </p:nvPr>
        </p:nvGraphicFramePr>
        <p:xfrm>
          <a:off x="457200" y="1874520"/>
          <a:ext cx="10199913" cy="9666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99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9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999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332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Paper model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Our Prescient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lang="en-US" dirty="0"/>
                        <a:t>Solver options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lang="en-GB" dirty="0" err="1"/>
                        <a:t>Conopt</a:t>
                      </a:r>
                      <a:r>
                        <a:rPr lang="en-GB" dirty="0"/>
                        <a:t> (comment out </a:t>
                      </a:r>
                      <a:r>
                        <a:rPr lang="en-GB" dirty="0" err="1"/>
                        <a:t>glpk</a:t>
                      </a:r>
                      <a:r>
                        <a:rPr lang="en-GB" dirty="0"/>
                        <a:t>)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lang="en-GB" dirty="0" err="1"/>
                        <a:t>Gurobi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74BD30F-81A5-1DFE-7A92-2DC590AFC618}"/>
              </a:ext>
            </a:extLst>
          </p:cNvPr>
          <p:cNvSpPr txBox="1"/>
          <p:nvPr/>
        </p:nvSpPr>
        <p:spPr>
          <a:xfrm>
            <a:off x="4711148" y="3125712"/>
            <a:ext cx="748085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lang="en-US" dirty="0"/>
              <a:t>CONOPT is a nonlinear programming (NLP) solver that cannot </a:t>
            </a:r>
            <a:r>
              <a:rPr lang="en-US" u="sng" dirty="0"/>
              <a:t>handle binary/integer variables natively</a:t>
            </a:r>
            <a:r>
              <a:rPr lang="en-US" dirty="0"/>
              <a:t>. The paper model declares </a:t>
            </a:r>
            <a:r>
              <a:rPr lang="en-US" dirty="0" err="1"/>
              <a:t>u_g_t</a:t>
            </a:r>
            <a:r>
              <a:rPr lang="en-US" dirty="0"/>
              <a:t> and </a:t>
            </a:r>
            <a:r>
              <a:rPr lang="en-US" dirty="0" err="1"/>
              <a:t>v_g_t</a:t>
            </a:r>
            <a:r>
              <a:rPr lang="en-US" dirty="0"/>
              <a:t> as domain=Binary, but CONOPT would solve a continuous relaxation where these variables take values in [0,1] rather than {0,1}. This means Run1 commitments may be fractional, and the Run2 dual prices are extracted from a model with relaxed (non-integer) commitment decisions fixed as continuous values. </a:t>
            </a:r>
            <a:endParaRPr sz="1600" b="1" dirty="0">
              <a:solidFill>
                <a:srgbClr val="F39C1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2EA894-761C-8FA2-1502-DC7DE83752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51111"/>
            <a:ext cx="4076700" cy="1447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B160CDE-F47D-D5B9-FC85-55F87FD579D4}"/>
              </a:ext>
            </a:extLst>
          </p:cNvPr>
          <p:cNvSpPr txBox="1"/>
          <p:nvPr/>
        </p:nvSpPr>
        <p:spPr>
          <a:xfrm>
            <a:off x="457200" y="5370671"/>
            <a:ext cx="6407426" cy="95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lang="en-US" dirty="0">
                <a:highlight>
                  <a:srgbClr val="00FFFF"/>
                </a:highlight>
              </a:rPr>
              <a:t>GLPK is for integer but CONOPT is NLP it may result in 0.5 on/off which is not realistic generators</a:t>
            </a:r>
            <a:endParaRPr lang="en-US" sz="1600" b="1" dirty="0">
              <a:solidFill>
                <a:srgbClr val="F39C12"/>
              </a:solidFill>
              <a:highlight>
                <a:srgbClr val="00FFFF"/>
              </a:highlight>
            </a:endParaRPr>
          </a:p>
          <a:p>
            <a:pPr>
              <a:spcAft>
                <a:spcPts val="500"/>
              </a:spcAft>
            </a:pPr>
            <a:r>
              <a:rPr lang="en-US" sz="1600" b="1" dirty="0">
                <a:solidFill>
                  <a:srgbClr val="F39C12"/>
                </a:solidFill>
              </a:rPr>
              <a:t>Smooth the system and make things more likely to be positive. </a:t>
            </a:r>
            <a:endParaRPr sz="1600" b="1" dirty="0">
              <a:solidFill>
                <a:srgbClr val="F39C1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4289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100" b="1">
                <a:solidFill>
                  <a:srgbClr val="FFFFFF"/>
                </a:solidFill>
              </a:defRPr>
            </a:pPr>
            <a:r>
              <a:t>Curtailment Penalty Work: Current Status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pPr algn="l">
              <a:defRPr sz="1600" i="1">
                <a:solidFill>
                  <a:srgbClr val="CCDDEE"/>
                </a:solidFill>
              </a:defRPr>
            </a:pPr>
            <a:r>
              <a:rPr dirty="0"/>
              <a:t>Experiment framework in place; run still in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74520"/>
            <a:ext cx="7040880" cy="1205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dirty="0">
                <a:solidFill>
                  <a:srgbClr val="F39C12"/>
                </a:solidFill>
              </a:rPr>
              <a:t>Ongoing 4-day simulation for 90-day experiment; run not finished yet.</a:t>
            </a:r>
          </a:p>
          <a:p>
            <a:pPr>
              <a:spcAft>
                <a:spcPts val="500"/>
              </a:spcAft>
            </a:pPr>
            <a:r>
              <a:rPr sz="1600" b="0" dirty="0">
                <a:solidFill>
                  <a:srgbClr val="333333"/>
                </a:solidFill>
              </a:rPr>
              <a:t>Experiment implemented in current Prescient pipeline and reproducible by case manifest.</a:t>
            </a:r>
          </a:p>
          <a:p>
            <a:pPr>
              <a:spcAft>
                <a:spcPts val="500"/>
              </a:spcAft>
            </a:pPr>
            <a:r>
              <a:rPr sz="1600" b="0" dirty="0">
                <a:solidFill>
                  <a:srgbClr val="333333"/>
                </a:solidFill>
              </a:rPr>
              <a:t>This section intentionally remains brief until the full run is complete.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680960" y="2057400"/>
          <a:ext cx="4023360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Penalty sweep ($/MWh)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300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2000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10000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8CEE041-F688-874E-91F0-9E4DBFF07A27}"/>
              </a:ext>
            </a:extLst>
          </p:cNvPr>
          <p:cNvSpPr txBox="1"/>
          <p:nvPr/>
        </p:nvSpPr>
        <p:spPr>
          <a:xfrm>
            <a:off x="487680" y="3233943"/>
            <a:ext cx="613804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US" b="0" i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How new curtailment was applied:</a:t>
            </a:r>
          </a:p>
          <a:p>
            <a:pPr algn="l">
              <a:spcAft>
                <a:spcPts val="1200"/>
              </a:spcAft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00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No 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"renewable curtailment penalty" option in </a:t>
            </a:r>
            <a:r>
              <a:rPr lang="en-US" dirty="0">
                <a:solidFill>
                  <a:srgbClr val="000000"/>
                </a:solidFill>
                <a:highlight>
                  <a:srgbClr val="00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PCM</a:t>
            </a:r>
          </a:p>
          <a:p>
            <a:pPr algn="l">
              <a:spcAft>
                <a:spcPts val="1200"/>
              </a:spcAft>
              <a:buNone/>
            </a:pPr>
            <a:r>
              <a:rPr lang="en-US" b="0" i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Use threshold penalty as proxies to influence dispatch, curtailment, and </a:t>
            </a:r>
            <a:r>
              <a:rPr lang="en-US" b="0" i="0" dirty="0" err="1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lmp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outcomes.</a:t>
            </a:r>
          </a:p>
          <a:p>
            <a:pPr algn="l">
              <a:spcAft>
                <a:spcPts val="1200"/>
              </a:spcAft>
              <a:buNone/>
            </a:pPr>
            <a:endParaRPr lang="en-US" b="0" i="0" dirty="0">
              <a:solidFill>
                <a:srgbClr val="000000"/>
              </a:solidFill>
              <a:effectLst/>
              <a:highlight>
                <a:srgbClr val="00FFFF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28CB5DB-8DAC-C2FA-8D30-BD0E20D9A8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2900" y="2395743"/>
            <a:ext cx="1384300" cy="1676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100" b="1">
                <a:solidFill>
                  <a:srgbClr val="FFFFFF"/>
                </a:solidFill>
              </a:defRPr>
            </a:pPr>
            <a:r>
              <a:t>Hydro Q1 Check: No Material Improvement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pPr algn="l">
              <a:defRPr sz="1600" i="1">
                <a:solidFill>
                  <a:srgbClr val="CCDDEE"/>
                </a:solidFill>
              </a:defRPr>
            </a:pPr>
            <a:r>
              <a:t>Hydro inclusion does not uplift LMP alignment in current setup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822113"/>
              </p:ext>
            </p:extLst>
          </p:nvPr>
        </p:nvGraphicFramePr>
        <p:xfrm>
          <a:off x="457200" y="1965960"/>
          <a:ext cx="9372600" cy="15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0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Weighted LMP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Floor-hit share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Min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Max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Hydro Btheta UC+ED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8.33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1.07%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-1000.0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276.6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Hydro Btheta UC-only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1.07%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-1000.0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276.2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No-hydro Benchmark Q1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8.26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1.07%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-1000.0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368.0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20110" y="6304002"/>
            <a:ext cx="663202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 dirty="0"/>
              <a:t>Hydro UC+ED and hydro UC-only </a:t>
            </a:r>
            <a:r>
              <a:rPr lang="en-GB" sz="1500" b="1" dirty="0"/>
              <a:t>results were</a:t>
            </a:r>
            <a:r>
              <a:rPr sz="1500" b="1" dirty="0"/>
              <a:t> very close to no-hydro Q1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BF96AC-622A-0F43-1D6A-9EE21054C3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0000"/>
          <a:stretch>
            <a:fillRect/>
          </a:stretch>
        </p:blipFill>
        <p:spPr>
          <a:xfrm>
            <a:off x="457200" y="3650976"/>
            <a:ext cx="7772400" cy="24301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100" b="1">
                <a:solidFill>
                  <a:srgbClr val="FFFFFF"/>
                </a:solidFill>
              </a:defRPr>
            </a:pPr>
            <a:r>
              <a:rPr dirty="0"/>
              <a:t>Decisions </a:t>
            </a:r>
            <a:r>
              <a:rPr lang="en-GB" dirty="0"/>
              <a:t>points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pPr algn="l">
              <a:defRPr sz="1600" i="1">
                <a:solidFill>
                  <a:srgbClr val="CCDDEE"/>
                </a:solidFill>
              </a:defRPr>
            </a:pPr>
            <a:r>
              <a:t>Lock scope before deeper simulation spend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679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lang="en-GB" sz="1700" b="1" dirty="0">
                <a:solidFill>
                  <a:srgbClr val="333333"/>
                </a:solidFill>
              </a:rPr>
              <a:t>1. </a:t>
            </a:r>
            <a:r>
              <a:rPr sz="1700" b="1" dirty="0">
                <a:solidFill>
                  <a:srgbClr val="333333"/>
                </a:solidFill>
              </a:rPr>
              <a:t>Prioritize structural alignment (renewables/chronology/pricing) before hydro expansion.</a:t>
            </a:r>
          </a:p>
          <a:p>
            <a:pPr>
              <a:spcAft>
                <a:spcPts val="500"/>
              </a:spcAft>
            </a:pPr>
            <a:r>
              <a:rPr lang="en-GB" sz="1700" b="1">
                <a:solidFill>
                  <a:srgbClr val="333333"/>
                </a:solidFill>
              </a:rPr>
              <a:t>2. </a:t>
            </a:r>
            <a:r>
              <a:rPr sz="1700" b="1">
                <a:solidFill>
                  <a:srgbClr val="333333"/>
                </a:solidFill>
              </a:rPr>
              <a:t>Define </a:t>
            </a:r>
            <a:r>
              <a:rPr sz="1700" b="1" dirty="0">
                <a:solidFill>
                  <a:srgbClr val="333333"/>
                </a:solidFill>
              </a:rPr>
              <a:t>success criteria as sign/trend alignment first, magnitude second.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rPr dirty="0"/>
              <a:t>How Curtailment Is Realized in Prescient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pPr algn="l">
              <a:defRPr sz="1500" i="1">
                <a:solidFill>
                  <a:srgbClr val="CCDDEE"/>
                </a:solidFill>
              </a:defRPr>
            </a:pPr>
            <a:r>
              <a:t>Proxy mechanism via SCED/RUC penalty-threshold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20"/>
            <a:ext cx="10972800" cy="2200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dirty="0">
                <a:solidFill>
                  <a:srgbClr val="333333"/>
                </a:solidFill>
              </a:rPr>
              <a:t>No standalone 'renewable curtailment penalty' switch in current Prescient run configuration.</a:t>
            </a:r>
          </a:p>
          <a:p>
            <a:pPr>
              <a:spcAft>
                <a:spcPts val="500"/>
              </a:spcAft>
            </a:pPr>
            <a:r>
              <a:rPr lang="en-GB" sz="1600" dirty="0">
                <a:solidFill>
                  <a:srgbClr val="333333"/>
                </a:solidFill>
              </a:rPr>
              <a:t>T</a:t>
            </a:r>
            <a:r>
              <a:rPr sz="1600" b="0" dirty="0" err="1">
                <a:solidFill>
                  <a:srgbClr val="333333"/>
                </a:solidFill>
              </a:rPr>
              <a:t>une</a:t>
            </a:r>
            <a:r>
              <a:rPr sz="1600" b="0" dirty="0">
                <a:solidFill>
                  <a:srgbClr val="333333"/>
                </a:solidFill>
              </a:rPr>
              <a:t> price/violation thresholds to shape dispatch and curtailment outcomes.</a:t>
            </a:r>
          </a:p>
          <a:p>
            <a:pPr>
              <a:spcAft>
                <a:spcPts val="500"/>
              </a:spcAft>
            </a:pPr>
            <a:r>
              <a:rPr sz="1600" b="1" dirty="0">
                <a:solidFill>
                  <a:srgbClr val="333333"/>
                </a:solidFill>
              </a:rPr>
              <a:t>Curtailment is tracked directly in outputs:</a:t>
            </a:r>
          </a:p>
          <a:p>
            <a:pPr lvl="1">
              <a:spcAft>
                <a:spcPts val="500"/>
              </a:spcAft>
            </a:pPr>
            <a:r>
              <a:rPr sz="1600" b="0" dirty="0" err="1">
                <a:solidFill>
                  <a:srgbClr val="333333"/>
                </a:solidFill>
              </a:rPr>
              <a:t>renewables_detail.csv</a:t>
            </a:r>
            <a:r>
              <a:rPr sz="1600" b="0" dirty="0">
                <a:solidFill>
                  <a:srgbClr val="333333"/>
                </a:solidFill>
              </a:rPr>
              <a:t> -&gt; Curtailment</a:t>
            </a:r>
          </a:p>
          <a:p>
            <a:pPr lvl="1">
              <a:spcAft>
                <a:spcPts val="500"/>
              </a:spcAft>
            </a:pPr>
            <a:r>
              <a:rPr sz="1600" b="0" dirty="0" err="1">
                <a:solidFill>
                  <a:srgbClr val="333333"/>
                </a:solidFill>
              </a:rPr>
              <a:t>hourly_summary.csv</a:t>
            </a:r>
            <a:r>
              <a:rPr sz="1600" b="0" dirty="0">
                <a:solidFill>
                  <a:srgbClr val="333333"/>
                </a:solidFill>
              </a:rPr>
              <a:t> -&gt; </a:t>
            </a:r>
            <a:r>
              <a:rPr sz="1600" b="0" dirty="0" err="1">
                <a:solidFill>
                  <a:srgbClr val="333333"/>
                </a:solidFill>
              </a:rPr>
              <a:t>RenewablesCurtailment</a:t>
            </a:r>
            <a:endParaRPr sz="1600" b="0" dirty="0">
              <a:solidFill>
                <a:srgbClr val="333333"/>
              </a:solidFill>
            </a:endParaRPr>
          </a:p>
          <a:p>
            <a:pPr>
              <a:spcAft>
                <a:spcPts val="500"/>
              </a:spcAft>
            </a:pPr>
            <a:r>
              <a:rPr sz="1600" b="1" dirty="0">
                <a:solidFill>
                  <a:srgbClr val="333333"/>
                </a:solidFill>
              </a:rPr>
              <a:t>Sweep cases: 300 / 1000 / 2000 / 5000 / 10000 $/MWh.</a:t>
            </a:r>
          </a:p>
          <a:p>
            <a:pPr>
              <a:spcAft>
                <a:spcPts val="500"/>
              </a:spcAft>
            </a:pPr>
            <a:r>
              <a:rPr lang="en-GB" sz="1600" b="0" dirty="0">
                <a:solidFill>
                  <a:srgbClr val="333333"/>
                </a:solidFill>
              </a:rPr>
              <a:t>[</a:t>
            </a:r>
            <a:r>
              <a:rPr sz="1600" b="0" dirty="0">
                <a:solidFill>
                  <a:srgbClr val="333333"/>
                </a:solidFill>
              </a:rPr>
              <a:t>curtailment-penalty proxy</a:t>
            </a:r>
            <a:r>
              <a:rPr lang="en-GB" sz="1600" dirty="0">
                <a:solidFill>
                  <a:srgbClr val="333333"/>
                </a:solidFill>
              </a:rPr>
              <a:t>]</a:t>
            </a:r>
            <a:endParaRPr sz="1600" b="0" dirty="0">
              <a:solidFill>
                <a:srgbClr val="333333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4F789F-99BD-7FD0-C3EA-55401D5E20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075122"/>
            <a:ext cx="6542442" cy="26582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4ED27DB-7945-4C02-44D7-9AFD324DBB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6010" y="2606040"/>
            <a:ext cx="5375910" cy="140103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Curtailment Penalty Sweep Results (Jan-Mar Common Window)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pPr algn="l">
              <a:defRPr sz="1500" i="1">
                <a:solidFill>
                  <a:srgbClr val="CCDDEE"/>
                </a:solidFill>
              </a:defRPr>
            </a:pPr>
            <a:r>
              <a:t>Common window: 2019-01-01 00:00 to 2019-03-31 23:00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920240"/>
          <a:ext cx="11247120" cy="19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0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Case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Neg LMP %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Floor-hit %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Weighted LMP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Curtail (MWh)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OverGen (MWh)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penalty_300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9.62%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1.52%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9.79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118,560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888,328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penalty_1000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10.51%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1.50%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3.96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124,325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889,003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penalty_2000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11.43%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1.51%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-7.91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125,040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888,986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penalty_5000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11.91%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1.49%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-39.57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121,351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889,607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penalty_10000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12.80%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1.49%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-88.35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123,328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888,693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343400"/>
            <a:ext cx="5189220" cy="1438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C0392B"/>
                </a:solidFill>
              </a:rPr>
              <a:t>Higher caps widen tails and increase negative-LMP frequency.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333333"/>
                </a:solidFill>
              </a:rPr>
              <a:t>Floor-hit fraction stays ~1.5% across cases (persistent clipping).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333333"/>
                </a:solidFill>
              </a:rPr>
              <a:t>Weighted LMP trends downward sharply as cap increases.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333333"/>
                </a:solidFill>
              </a:rPr>
              <a:t>Overgeneration remains high and nearly flat (~888-890 GWh): cap tuning alone is not a structural fix.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4F0D8-1245-D481-AFF4-9411CBEAD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D1011EA-713E-FD82-EF5E-92FA1B7EEA58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Curtailment Penalty Sweep Results (Jan-Mar Common Window)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6539BF-A137-D938-291C-C750044E180C}"/>
              </a:ext>
            </a:extLst>
          </p:cNvPr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pPr algn="l">
              <a:defRPr sz="1500" i="1">
                <a:solidFill>
                  <a:srgbClr val="CCDDEE"/>
                </a:solidFill>
              </a:defRPr>
            </a:pPr>
            <a:r>
              <a:t>Common window: 2019-01-01 00:00 to 2019-03-31 23:00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9DFC463-C08F-E394-4F5F-948683F3F176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920240"/>
          <a:ext cx="11247120" cy="19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0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Case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Neg LMP %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Floor-hit %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Weighted LMP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Curtail (MWh)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OverGen (MWh)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penalty_300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9.62%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1.52%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9.79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118,560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888,328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penalty_1000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10.51%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1.50%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3.96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124,325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889,003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penalty_2000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11.43%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1.51%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-7.91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125,040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888,986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penalty_5000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11.91%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1.49%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-39.57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121,351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889,607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penalty_10000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12.80%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1.49%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-88.35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123,328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888,693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C22C484-BDC4-0369-7A4A-07D33F2E28B2}"/>
              </a:ext>
            </a:extLst>
          </p:cNvPr>
          <p:cNvSpPr txBox="1"/>
          <p:nvPr/>
        </p:nvSpPr>
        <p:spPr>
          <a:xfrm>
            <a:off x="548640" y="4343400"/>
            <a:ext cx="5189220" cy="1438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C0392B"/>
                </a:solidFill>
              </a:rPr>
              <a:t>Higher caps widen tails and increase negative-LMP frequency.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333333"/>
                </a:solidFill>
              </a:rPr>
              <a:t>Floor-hit fraction stays ~1.5% across cases (persistent clipping).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333333"/>
                </a:solidFill>
              </a:rPr>
              <a:t>Weighted LMP trends downward sharply as cap increases.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333333"/>
                </a:solidFill>
              </a:rPr>
              <a:t>Overgeneration remains high and nearly flat (~888-890 GWh): cap tuning alone is not a structural fix.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6C7D2A-FB5B-B5F5-29C4-88BBD45FC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2830" y="4107204"/>
            <a:ext cx="7772400" cy="1911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8292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73B6F-FEBC-3FD3-64AC-E802D64A1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0E729D7-1EF4-7A2B-E4D5-40B73677FAC7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Curtailment Penalty Sweep Results (Jan-Mar Common Window)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028EE4-E4FF-A774-F268-314DACAEE12E}"/>
              </a:ext>
            </a:extLst>
          </p:cNvPr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pPr algn="l">
              <a:defRPr sz="1500" i="1">
                <a:solidFill>
                  <a:srgbClr val="CCDDEE"/>
                </a:solidFill>
              </a:defRPr>
            </a:pPr>
            <a:r>
              <a:t>Common window: 2019-01-01 00:00 to 2019-03-31 23:00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B8A6A40-7DC2-90DA-35FE-872F6A1374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623310" y="1611301"/>
            <a:ext cx="7772400" cy="27438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E33E41-D6D8-B1E5-41B3-E5EB96D9CF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4197" y="1508760"/>
            <a:ext cx="6273800" cy="3111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B479468-5761-3943-0A8F-4BCC91C648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025" y="4620260"/>
            <a:ext cx="3953462" cy="1963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0743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63C82-71EB-9B8C-F569-B84B6DD6C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A6202CE-115E-F4DE-342D-4E3CD8E49A1C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Curtailment Penalty Sweep Results (Jan-Mar Common Window)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4E241B-91F4-891B-C2D3-A5864CF8C6DC}"/>
              </a:ext>
            </a:extLst>
          </p:cNvPr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pPr algn="l">
              <a:defRPr sz="1500" i="1">
                <a:solidFill>
                  <a:srgbClr val="CCDDEE"/>
                </a:solidFill>
              </a:defRPr>
            </a:pPr>
            <a:r>
              <a:t>Common window: 2019-01-01 00:00 to 2019-03-31 23:00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ECB4596-C12B-DDAC-AB3E-4CA272280CB6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920240"/>
          <a:ext cx="11247120" cy="19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0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Case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Neg LMP %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Floor-hit %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Weighted LMP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Curtail (MWh)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OverGen (MWh)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penalty_300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9.62%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1.52%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9.79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118,560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888,328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penalty_1000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10.51%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1.50%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3.96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124,325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889,003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penalty_2000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11.43%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1.51%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-7.91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125,040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888,986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penalty_5000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11.91%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1.49%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-39.57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121,351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889,607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penalty_10000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12.80%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1.49%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-88.35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123,328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888,693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D9DCD55-8A3B-2929-6CD2-831211FCFF5E}"/>
              </a:ext>
            </a:extLst>
          </p:cNvPr>
          <p:cNvSpPr txBox="1"/>
          <p:nvPr/>
        </p:nvSpPr>
        <p:spPr>
          <a:xfrm>
            <a:off x="548640" y="4343400"/>
            <a:ext cx="5189220" cy="1438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C0392B"/>
                </a:solidFill>
              </a:rPr>
              <a:t>Higher caps widen tails and increase negative-LMP frequency.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333333"/>
                </a:solidFill>
              </a:rPr>
              <a:t>Floor-hit fraction stays ~1.5% across cases (persistent clipping).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333333"/>
                </a:solidFill>
              </a:rPr>
              <a:t>Weighted LMP trends downward sharply as cap increases.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333333"/>
                </a:solidFill>
              </a:rPr>
              <a:t>Overgeneration remains high and nearly flat (~888-890 GWh): cap tuning alone is not a structural fix.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EAF9D7-CD52-0E9F-B498-D2C6BD159E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47" y="3985881"/>
            <a:ext cx="5787390" cy="22017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1C3502-2E1C-F92B-68C9-ED8A347C81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2473377"/>
            <a:ext cx="7772400" cy="1911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0320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Corrected Paper Curtailment Mechanism vs Our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pPr algn="l">
              <a:defRPr sz="1500" i="1">
                <a:solidFill>
                  <a:srgbClr val="CCDDEE"/>
                </a:solidFill>
              </a:defRPr>
            </a:pPr>
            <a:r>
              <a:t>Paper: bounded net-load slack; Ours: threshold-driven market proxy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333333"/>
                </a:solidFill>
              </a:rPr>
              <a:t>Paper Pyomo (actual implementation):</a:t>
            </a:r>
          </a:p>
          <a:p>
            <a:pPr lvl="1">
              <a:spcAft>
                <a:spcPts val="500"/>
              </a:spcAft>
            </a:pPr>
            <a:r>
              <a:rPr sz="1400" b="0">
                <a:solidFill>
                  <a:srgbClr val="333333"/>
                </a:solidFill>
              </a:rPr>
              <a:t>Wind/solar subtracted from load first (net-load).</a:t>
            </a:r>
          </a:p>
          <a:p>
            <a:pPr lvl="1">
              <a:spcAft>
                <a:spcPts val="500"/>
              </a:spcAft>
            </a:pPr>
            <a:r>
              <a:rPr sz="1400" b="0">
                <a:solidFill>
                  <a:srgbClr val="333333"/>
                </a:solidFill>
              </a:rPr>
              <a:t>rnwcur_b_t &gt;= 0 and only active when net load &lt; 0.</a:t>
            </a:r>
          </a:p>
          <a:p>
            <a:pPr lvl="1">
              <a:spcAft>
                <a:spcPts val="500"/>
              </a:spcAft>
            </a:pPr>
            <a:r>
              <a:rPr sz="1400" b="0">
                <a:solidFill>
                  <a:srgbClr val="333333"/>
                </a:solidFill>
              </a:rPr>
              <a:t>Bounded by magnitude of negative net load.</a:t>
            </a:r>
          </a:p>
          <a:p>
            <a:pPr lvl="1">
              <a:spcAft>
                <a:spcPts val="500"/>
              </a:spcAft>
            </a:pPr>
            <a:r>
              <a:rPr sz="1400" b="0">
                <a:solidFill>
                  <a:srgbClr val="333333"/>
                </a:solidFill>
              </a:rPr>
              <a:t>Appears in nodal balance RHS as balancing relief.</a:t>
            </a:r>
          </a:p>
          <a:p>
            <a:pPr lvl="1">
              <a:spcAft>
                <a:spcPts val="500"/>
              </a:spcAft>
            </a:pPr>
            <a:r>
              <a:rPr sz="1400" b="1">
                <a:solidFill>
                  <a:srgbClr val="333333"/>
                </a:solidFill>
              </a:rPr>
              <a:t>No direct curtailment objective-cost term.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874520"/>
            <a:ext cx="5486400" cy="142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 dirty="0">
                <a:solidFill>
                  <a:srgbClr val="333333"/>
                </a:solidFill>
              </a:rPr>
              <a:t>Our Prescient benchmark run:</a:t>
            </a:r>
          </a:p>
          <a:p>
            <a:pPr lvl="1">
              <a:spcAft>
                <a:spcPts val="500"/>
              </a:spcAft>
            </a:pPr>
            <a:r>
              <a:rPr sz="1400" b="0" dirty="0">
                <a:solidFill>
                  <a:srgbClr val="333333"/>
                </a:solidFill>
              </a:rPr>
              <a:t>Explicit renewable participation in clearing.</a:t>
            </a:r>
          </a:p>
          <a:p>
            <a:pPr lvl="1">
              <a:spcAft>
                <a:spcPts val="500"/>
              </a:spcAft>
            </a:pPr>
            <a:r>
              <a:rPr sz="1400" b="0" dirty="0">
                <a:solidFill>
                  <a:srgbClr val="333333"/>
                </a:solidFill>
              </a:rPr>
              <a:t>Curtailment influenced by penalty/threshold economics.</a:t>
            </a:r>
          </a:p>
          <a:p>
            <a:pPr lvl="1">
              <a:spcAft>
                <a:spcPts val="500"/>
              </a:spcAft>
            </a:pPr>
            <a:r>
              <a:rPr sz="1400" b="0" dirty="0">
                <a:solidFill>
                  <a:srgbClr val="333333"/>
                </a:solidFill>
              </a:rPr>
              <a:t>Cap tuning changes tail behavior strongly.</a:t>
            </a:r>
          </a:p>
          <a:p>
            <a:pPr lvl="1">
              <a:spcAft>
                <a:spcPts val="500"/>
              </a:spcAft>
            </a:pPr>
            <a:r>
              <a:rPr sz="1400" b="0" dirty="0">
                <a:solidFill>
                  <a:srgbClr val="333333"/>
                </a:solidFill>
              </a:rPr>
              <a:t>But surplus/overgeneration remains structurally high.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6213</TotalTime>
  <Words>1585</Words>
  <Application>Microsoft Macintosh PowerPoint</Application>
  <PresentationFormat>Widescreen</PresentationFormat>
  <Paragraphs>275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-apple-system</vt:lpstr>
      <vt:lpstr>Arial</vt:lpstr>
      <vt:lpstr>Calibri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Kay Lu</cp:lastModifiedBy>
  <cp:revision>7</cp:revision>
  <dcterms:created xsi:type="dcterms:W3CDTF">2013-01-27T09:14:16Z</dcterms:created>
  <dcterms:modified xsi:type="dcterms:W3CDTF">2026-03-14T01:15:07Z</dcterms:modified>
  <cp:category/>
</cp:coreProperties>
</file>