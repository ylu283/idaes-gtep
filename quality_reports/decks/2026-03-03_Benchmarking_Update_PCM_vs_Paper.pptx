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4" r:id="rId5"/>
    <p:sldId id="265" r:id="rId6"/>
    <p:sldId id="266" r:id="rId7"/>
    <p:sldId id="267" r:id="rId8"/>
    <p:sldId id="268" r:id="rId9"/>
    <p:sldId id="260" r:id="rId10"/>
    <p:sldId id="269" r:id="rId11"/>
    <p:sldId id="261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2"/>
    <p:restoredTop sz="94660"/>
  </p:normalViewPr>
  <p:slideViewPr>
    <p:cSldViewPr snapToGrid="0" snapToObjects="1">
      <p:cViewPr varScale="1">
        <p:scale>
          <a:sx n="118" d="100"/>
          <a:sy n="118" d="100"/>
        </p:scale>
        <p:origin x="432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870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7F94A-EAC6-EB14-E55C-A662D0BB0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FAE25-CB17-8A54-A438-79776749C0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F54C30-5E01-A695-2EF3-773704A085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3A2FC-B908-99C5-153C-29D22A230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037759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FA427-DF18-8B68-BB19-544DB695F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4C799-0AB4-0916-E9A7-01D4701D46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B8BEC6-CB58-9892-934C-0BF85ADD2A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paper uses explicit fixed-commitment re-solve for dual prices; Prescient prices come from its integrated RUC/SCED market engine.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A7A8EB-6A7D-E303-7B5B-68AF5EA300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8484608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1BB53-546E-571E-C36B-33B7105F4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41B22-3427-FC8B-3C73-C187A39991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A4FA35-570B-0E53-EE13-0DFDB9B14B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F3681-3A04-F520-990E-29A43F657F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091932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35A5D-7FDC-2430-4A60-9DEEC5C2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8E5111-6BD2-9067-765C-0516B68721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538D2-6AF5-7CB5-9BE4-F243D6690A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F58153-EB8C-2D8F-9A08-B9C374EF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608343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56CA1-341F-1AFE-9117-E0AC7E583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4565B4-0664-1320-E492-E7C0C8990C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27EFB0-CFC8-5B07-D059-F8AB1FC9E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F4B14-B7EC-CC1A-3453-7287D6D7A7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48034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/Users/yilu/Documents/GitHub/idaes-gtep/quality_reports/curtailment_penalty_experiment_setup_2026-02-28.md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844F2E-0CA8-F0A5-0BF2-342D98D0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93346-9153-1AF2-7ADC-1E9454B1DF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930DA8-ECB4-9DA9-168B-53CE2CC55F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Source: /Users/yilu/Documents/GitHub/idaes-gtep/quality_reports/curtailment_penalty_experiment_setup_2026-02-28.md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21B73-0C2F-8A45-982D-7C70F460AC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017462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Sources: /Users/yilu/Documents/GitHub/idaes-gtep/gtep/pcm_analysis/PCM_result_hydro_q1_comparison.json; /Users/yilu/Documents/GitHub/idaes-gtep/gtep/pcm_analysis/prescient_lmp_analysis_with_hydro_q1.ipynb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closing slide is for meeting decisions and near-term execution commitments.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Prescient PCM vs Paper UC: Benchmarking Status and Effort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TX-123BT ERCOT | Collaborator/Supervisor Update |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65960"/>
            <a:ext cx="10972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Purpose: estimate effort needed to align Prescient PCM with paper UC benchmark.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Coverage: model-difference audit, curtailment experiment status, hydro Q1 benchmark signal.</a:t>
            </a:r>
          </a:p>
          <a:p>
            <a:pPr>
              <a:spcAft>
                <a:spcPts val="500"/>
              </a:spcAft>
            </a:pPr>
            <a:r>
              <a:rPr sz="2200" b="0">
                <a:solidFill>
                  <a:srgbClr val="333333"/>
                </a:solidFill>
              </a:rPr>
              <a:t>Decision focus: where to invest benchmarking effort next.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>
                <a:solidFill>
                  <a:srgbClr val="FFFFFF"/>
                </a:solidFill>
              </a:defRPr>
            </a:pPr>
            <a:r>
              <a:t>IDAES-GTEP | Benchmarking update section (~20 minutes)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lang="en-GB" dirty="0"/>
              <a:t>Updates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8316686" cy="1267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333333"/>
                </a:solidFill>
              </a:rPr>
              <a:t>Comparing paper’s </a:t>
            </a:r>
            <a:r>
              <a:rPr lang="en-GB" sz="1700" b="0" dirty="0" err="1">
                <a:solidFill>
                  <a:srgbClr val="333333"/>
                </a:solidFill>
              </a:rPr>
              <a:t>pyomo</a:t>
            </a:r>
            <a:r>
              <a:rPr lang="en-GB" sz="1700" b="0" dirty="0">
                <a:solidFill>
                  <a:srgbClr val="333333"/>
                </a:solidFill>
              </a:rPr>
              <a:t> and our PCM, main d</a:t>
            </a:r>
            <a:r>
              <a:rPr sz="1700" b="0" dirty="0">
                <a:solidFill>
                  <a:srgbClr val="333333"/>
                </a:solidFill>
              </a:rPr>
              <a:t>differences</a:t>
            </a:r>
            <a:r>
              <a:rPr lang="en-GB" sz="1700" dirty="0">
                <a:solidFill>
                  <a:srgbClr val="333333"/>
                </a:solidFill>
              </a:rPr>
              <a:t> are</a:t>
            </a:r>
            <a:r>
              <a:rPr sz="1700" b="0" dirty="0">
                <a:solidFill>
                  <a:srgbClr val="333333"/>
                </a:solidFill>
              </a:rPr>
              <a:t> renewable treatment, chronology, pricing workflow.</a:t>
            </a:r>
          </a:p>
          <a:p>
            <a:pPr>
              <a:spcAft>
                <a:spcPts val="500"/>
              </a:spcAft>
            </a:pPr>
            <a:r>
              <a:rPr lang="en-GB" sz="1700" b="0" dirty="0">
                <a:solidFill>
                  <a:srgbClr val="F39C12"/>
                </a:solidFill>
              </a:rPr>
              <a:t>[update] </a:t>
            </a:r>
            <a:r>
              <a:rPr sz="1700" b="0" dirty="0">
                <a:solidFill>
                  <a:srgbClr val="F39C12"/>
                </a:solidFill>
              </a:rPr>
              <a:t>Hydro inclusion in Q1 did not materially improve alignment to paper behavior.</a:t>
            </a:r>
            <a:endParaRPr lang="en-GB" sz="1700" b="0" dirty="0">
              <a:solidFill>
                <a:srgbClr val="F39C12"/>
              </a:solidFill>
            </a:endParaRPr>
          </a:p>
          <a:p>
            <a:pPr>
              <a:spcAft>
                <a:spcPts val="500"/>
              </a:spcAft>
            </a:pPr>
            <a:r>
              <a:rPr lang="en-US" sz="1700" dirty="0">
                <a:solidFill>
                  <a:srgbClr val="F39C12"/>
                </a:solidFill>
              </a:rPr>
              <a:t>[update] I updated curtailment implementation and redo a Q1, it is still running after 4 days. </a:t>
            </a:r>
            <a:endParaRPr sz="1700" b="0" dirty="0">
              <a:solidFill>
                <a:srgbClr val="F39C1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8650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Renewables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Subtracted from load (net-load)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Explicit generators in clearing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9E6B019E-99DD-BAAA-6ADE-1BCDE8D475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17373"/>
            <a:ext cx="5104347" cy="2773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A1F3E-57CD-344F-E81C-BF0F00452A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895601"/>
            <a:ext cx="4779793" cy="254725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EE9204-629E-F1BD-7D9B-C774D4C12C16}"/>
              </a:ext>
            </a:extLst>
          </p:cNvPr>
          <p:cNvSpPr txBox="1"/>
          <p:nvPr/>
        </p:nvSpPr>
        <p:spPr>
          <a:xfrm>
            <a:off x="5557156" y="5760720"/>
            <a:ext cx="61395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aper removed wind/solar from demand before optimization; Prescient keeps renewable units explicit in market clearing.</a:t>
            </a:r>
            <a:endParaRPr lang="en-US" dirty="0"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09C5-C55B-C84C-E54B-DA96F3A9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9134544-59B7-05B0-9768-32FF6E8EDAC8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443A48-735C-AF8F-49B9-126830682B8E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A86A98-E57F-00F5-7B69-2F9D0ABFF0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795028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Curtailment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Free relief variable in balance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Penalty/cap mediated behavior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5454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79F35-3D1E-F65F-6367-3EE7A4B77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578F873-E6D2-96E6-08E4-AF637FCCEC1E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0947A8-E95A-C535-DD68-4EF281F00083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5694F29-4222-C4DF-2F3D-949E11E055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2011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Two-pass dual pricing</a:t>
                      </a:r>
                      <a:r>
                        <a:rPr lang="en-GB" dirty="0"/>
                        <a:t>; fixed commitment</a:t>
                      </a:r>
                      <a:endParaRPr dirty="0"/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Integrated RUC/SCED pricing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084DD420-EB14-D62A-C4C1-1AB70BC8CE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32463"/>
            <a:ext cx="6743435" cy="138177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F2FD2C7-8EDA-BE0D-95D6-C7021CD34D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272187"/>
            <a:ext cx="7244176" cy="12681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266CB2-AD15-F831-B9EE-67E47E71B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573163"/>
            <a:ext cx="6743433" cy="9693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8ED705-6B8D-B76E-AF25-E9FDB827926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1376" y="2939775"/>
            <a:ext cx="5740893" cy="1112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3456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3A19A-A895-1245-F696-19D0250C9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57918C-76B5-5315-7D3E-F7A965787161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E62074-C24D-1394-AE07-D8F65F1130EA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161765B-9573-3D3F-5189-1698E4CFB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347074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Chronology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Daily runs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Rolling horizons (90d, look-ahead)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DBFC6B6-E27A-52F1-8A5C-44BDCAE313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3142"/>
          <a:stretch>
            <a:fillRect/>
          </a:stretch>
        </p:blipFill>
        <p:spPr>
          <a:xfrm>
            <a:off x="457200" y="3441313"/>
            <a:ext cx="5252544" cy="10704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37E8FF-1B6B-E8DE-C681-D040B6BBA8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3142"/>
          <a:stretch>
            <a:fillRect/>
          </a:stretch>
        </p:blipFill>
        <p:spPr>
          <a:xfrm>
            <a:off x="6939456" y="3481603"/>
            <a:ext cx="5252544" cy="107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97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A595-ED8D-3426-9550-453C61517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3C4F22-3703-BDD3-901E-FED3306B2E5A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26E6EA-F783-B7B6-F2F7-4CBA8429CE60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8176CDC-3FA9-43FE-557C-ED58B29AD1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7926276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Reserves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 reserve constraints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 err="1"/>
                        <a:t>reserve_factor</a:t>
                      </a:r>
                      <a:r>
                        <a:rPr dirty="0"/>
                        <a:t> design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107A8680-C660-F324-B3C0-F42A01A58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17" y="3242451"/>
            <a:ext cx="6440214" cy="1212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6A4E06-2C1A-3FA0-8005-6BFC24698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4440" y="3727440"/>
            <a:ext cx="4272430" cy="578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214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A294-4A3F-AF5A-23B8-09CE303C5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830D38C-FBBA-E9D2-8924-D7A6E8E2AECF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Paper UC vs Prescient PCM: Comparison Matrix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B5175B-031B-844B-7CF7-6FBC95721A57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lang="en-GB" dirty="0"/>
              <a:t> model comparison 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10B584E-5428-D62B-2324-6562812CD3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254513"/>
              </p:ext>
            </p:extLst>
          </p:nvPr>
        </p:nvGraphicFramePr>
        <p:xfrm>
          <a:off x="457200" y="1874520"/>
          <a:ext cx="10199913" cy="966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99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999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32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Aspect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Paper model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Our Prescient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6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Line ratings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Day-specific / hourly DLR options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RTS-GMLC path unless remapped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E08CCFB9-5A60-6145-344E-B50B55CD5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669" y="2998076"/>
            <a:ext cx="60325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004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Curtailment Penalty Work: Current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rPr dirty="0"/>
              <a:t>Experiment framework in place; run still in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4520"/>
            <a:ext cx="704088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F39C12"/>
                </a:solidFill>
              </a:rPr>
              <a:t>Ongoing 4-day simulation for 90-day experiment; run not finished yet.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Experiment implemented in current Prescient pipeline and reproducible by case manifest.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This section intentionally remains brief until the full run is complete.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80960" y="2057400"/>
          <a:ext cx="40233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Penalty sweep ($/MWh)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CEE041-F688-874E-91F0-9E4DBFF07A27}"/>
              </a:ext>
            </a:extLst>
          </p:cNvPr>
          <p:cNvSpPr txBox="1"/>
          <p:nvPr/>
        </p:nvSpPr>
        <p:spPr>
          <a:xfrm>
            <a:off x="487680" y="3233943"/>
            <a:ext cx="613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How new curtailment was applied:</a:t>
            </a:r>
          </a:p>
          <a:p>
            <a:pPr algn="l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"renewable curtailment penalty" option in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PCM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 threshold penalty as proxies to influence dispatch, curtailment, and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lmp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outcomes.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28CB5DB-8DAC-C2FA-8D30-BD0E20D9A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2900" y="2395743"/>
            <a:ext cx="1384300" cy="167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85139-64C3-ABFE-3CF2-25E8A837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AA122C-35BA-3F99-60DB-CC77D86E1A03}"/>
              </a:ext>
            </a:extLst>
          </p:cNvPr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Curtailment Penalty Work: Current Status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AC576B-D0C4-4CD3-F659-9CA2761DA15B}"/>
              </a:ext>
            </a:extLst>
          </p:cNvPr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Experiment framework in place; run still in progress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7F737-4E7F-11C0-DAA9-4ADE9FD28A7E}"/>
              </a:ext>
            </a:extLst>
          </p:cNvPr>
          <p:cNvSpPr txBox="1"/>
          <p:nvPr/>
        </p:nvSpPr>
        <p:spPr>
          <a:xfrm>
            <a:off x="457200" y="1874520"/>
            <a:ext cx="7040880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dirty="0">
                <a:solidFill>
                  <a:srgbClr val="F39C12"/>
                </a:solidFill>
              </a:rPr>
              <a:t>Ongoing 4-day simulation for 90-day experiment; run not finished yet.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Experiment implemented in current Prescient pipeline and reproducible by case manifest.</a:t>
            </a:r>
          </a:p>
          <a:p>
            <a:pPr>
              <a:spcAft>
                <a:spcPts val="500"/>
              </a:spcAft>
            </a:pPr>
            <a:r>
              <a:rPr sz="1600" b="0" dirty="0">
                <a:solidFill>
                  <a:srgbClr val="333333"/>
                </a:solidFill>
              </a:rPr>
              <a:t>This section intentionally remains brief until the full run is complete.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3A0D410-5DCA-DD75-B096-2BEFCBE14662}"/>
              </a:ext>
            </a:extLst>
          </p:cNvPr>
          <p:cNvGraphicFramePr>
            <a:graphicFrameLocks noGrp="1"/>
          </p:cNvGraphicFramePr>
          <p:nvPr/>
        </p:nvGraphicFramePr>
        <p:xfrm>
          <a:off x="7680960" y="2057400"/>
          <a:ext cx="402336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Penalty sweep ($/MWh)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300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5000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10000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75EF431-4ADA-5E21-6FAB-A68F86018D3E}"/>
              </a:ext>
            </a:extLst>
          </p:cNvPr>
          <p:cNvSpPr txBox="1"/>
          <p:nvPr/>
        </p:nvSpPr>
        <p:spPr>
          <a:xfrm>
            <a:off x="487680" y="3233943"/>
            <a:ext cx="61380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How new curtailment was applied:</a:t>
            </a:r>
          </a:p>
          <a:p>
            <a:pPr algn="l">
              <a:spcAft>
                <a:spcPts val="1200"/>
              </a:spcAft>
              <a:buNone/>
            </a:pP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No 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"renewable curtailment penalty" option in </a:t>
            </a:r>
            <a:r>
              <a:rPr lang="en-US" dirty="0">
                <a:solidFill>
                  <a:srgbClr val="000000"/>
                </a:solidFill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PCM</a:t>
            </a:r>
          </a:p>
          <a:p>
            <a:pPr algn="l">
              <a:spcAft>
                <a:spcPts val="1200"/>
              </a:spcAft>
              <a:buNone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Use threshold penalty as proxies to influence dispatch, curtailment, and </a:t>
            </a:r>
            <a:r>
              <a:rPr lang="en-US" b="0" i="0" dirty="0" err="1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lmp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Calibri" panose="020F0502020204030204" pitchFamily="34" charset="0"/>
                <a:cs typeface="Calibri" panose="020F0502020204030204" pitchFamily="34" charset="0"/>
              </a:rPr>
              <a:t> outcomes.</a:t>
            </a:r>
          </a:p>
          <a:p>
            <a:pPr algn="l">
              <a:spcAft>
                <a:spcPts val="1200"/>
              </a:spcAft>
              <a:buNone/>
            </a:pPr>
            <a:endParaRPr lang="en-US" b="0" i="0" dirty="0">
              <a:solidFill>
                <a:srgbClr val="000000"/>
              </a:solidFill>
              <a:effectLst/>
              <a:highlight>
                <a:srgbClr val="00FFFF"/>
              </a:highligh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09506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t>Hydro Q1 Check: No Material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Hydro inclusion does not uplift LMP alignment in current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822113"/>
              </p:ext>
            </p:extLst>
          </p:nvPr>
        </p:nvGraphicFramePr>
        <p:xfrm>
          <a:off x="457200" y="1965960"/>
          <a:ext cx="9372600" cy="15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74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00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Weighted LMP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Floor-hit share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Max</a:t>
                      </a:r>
                    </a:p>
                  </a:txBody>
                  <a:tcPr anchor="ctr"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UC+ED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8.33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Hydro Btheta UC-only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1.07%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276.2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00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No-hydro Benchmark Q1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8.26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1.07%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-1000.0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rPr dirty="0"/>
                        <a:t>368.0</a:t>
                      </a:r>
                    </a:p>
                  </a:txBody>
                  <a:tcPr anchor="ctr">
                    <a:solidFill>
                      <a:srgbClr val="D6E8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20110" y="6304002"/>
            <a:ext cx="663202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1" dirty="0"/>
              <a:t>Hydro UC+ED and hydro UC-only </a:t>
            </a:r>
            <a:r>
              <a:rPr lang="en-GB" sz="1500" b="1" dirty="0"/>
              <a:t>results were</a:t>
            </a:r>
            <a:r>
              <a:rPr sz="1500" b="1" dirty="0"/>
              <a:t> very close to no-hydro Q1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BF96AC-622A-0F43-1D6A-9EE21054C3E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457200" y="3650976"/>
            <a:ext cx="7772400" cy="24301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0" rtlCol="0" anchor="ctr"/>
          <a:lstStyle/>
          <a:p>
            <a:pPr algn="l">
              <a:defRPr sz="3100" b="1">
                <a:solidFill>
                  <a:srgbClr val="FFFFFF"/>
                </a:solidFill>
              </a:defRPr>
            </a:pPr>
            <a:r>
              <a:rPr dirty="0"/>
              <a:t>Decisions </a:t>
            </a:r>
            <a:r>
              <a:rPr lang="en-GB" dirty="0"/>
              <a:t>points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41148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pPr algn="l">
              <a:defRPr sz="1600" i="1">
                <a:solidFill>
                  <a:srgbClr val="CCDDEE"/>
                </a:solidFill>
              </a:defRPr>
            </a:pPr>
            <a:r>
              <a:t>Lock scope before deeper simulation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GB" sz="1700" b="1" dirty="0">
                <a:solidFill>
                  <a:srgbClr val="333333"/>
                </a:solidFill>
              </a:rPr>
              <a:t>1. </a:t>
            </a:r>
            <a:r>
              <a:rPr sz="1700" b="1" dirty="0">
                <a:solidFill>
                  <a:srgbClr val="333333"/>
                </a:solidFill>
              </a:rPr>
              <a:t>Prioritize structural alignment (renewables/chronology/pricing) before hydro expansion.</a:t>
            </a:r>
          </a:p>
          <a:p>
            <a:pPr>
              <a:spcAft>
                <a:spcPts val="500"/>
              </a:spcAft>
            </a:pPr>
            <a:r>
              <a:rPr lang="en-GB" sz="1700" b="1">
                <a:solidFill>
                  <a:srgbClr val="333333"/>
                </a:solidFill>
              </a:rPr>
              <a:t>2. </a:t>
            </a:r>
            <a:r>
              <a:rPr sz="1700" b="1">
                <a:solidFill>
                  <a:srgbClr val="333333"/>
                </a:solidFill>
              </a:rPr>
              <a:t>Define </a:t>
            </a:r>
            <a:r>
              <a:rPr sz="1700" b="1" dirty="0">
                <a:solidFill>
                  <a:srgbClr val="333333"/>
                </a:solidFill>
              </a:rPr>
              <a:t>success criteria as sign/trend alignment first, magnitude second.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2673</TotalTime>
  <Words>739</Words>
  <Application>Microsoft Macintosh PowerPoint</Application>
  <PresentationFormat>Widescreen</PresentationFormat>
  <Paragraphs>119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Kay Lu</cp:lastModifiedBy>
  <cp:revision>5</cp:revision>
  <dcterms:created xsi:type="dcterms:W3CDTF">2013-01-27T09:14:16Z</dcterms:created>
  <dcterms:modified xsi:type="dcterms:W3CDTF">2026-03-11T12:36:45Z</dcterms:modified>
  <cp:category/>
</cp:coreProperties>
</file>