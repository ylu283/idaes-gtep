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1" r:id="rId2"/>
    <p:sldId id="262" r:id="rId3"/>
    <p:sldId id="264" r:id="rId4"/>
    <p:sldId id="2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7"/>
    <p:restoredTop sz="94680"/>
  </p:normalViewPr>
  <p:slideViewPr>
    <p:cSldViewPr snapToGrid="0" snapToObjects="1">
      <p:cViewPr varScale="1">
        <p:scale>
          <a:sx n="137" d="100"/>
          <a:sy n="137" d="100"/>
        </p:scale>
        <p:origin x="14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124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Upstream also has a logic bug: 'if "Texas" or "Coal" not in </a:t>
            </a:r>
            <a:r>
              <a:rPr dirty="0" err="1"/>
              <a:t>data_path</a:t>
            </a:r>
            <a:r>
              <a:rPr dirty="0"/>
              <a:t>' is always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renewableCapacityNameplate issue affects model correctness — commitment_period may underestimate renewable nameplate capacity if representative periods have different peak outputs. This should be a priority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next steps are ordered by priority. Steps 1-2 are prerequisites for meaningful further GTEP development. Steps 3-5 can proceed in parallel once version alignment is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GTEP Codebase: main vs Working Branch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19241"/>
              </p:ext>
            </p:extLst>
          </p:nvPr>
        </p:nvGraphicFramePr>
        <p:xfrm>
          <a:off x="287079" y="1828800"/>
          <a:ext cx="6954969" cy="245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9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main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commitment_period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Stage-specific costs (fixedCost1/2/3)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Declarations deleted, usage kept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Restored from gen data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GEN UID type mismatch (int vs str)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No </a:t>
                      </a:r>
                      <a:r>
                        <a:rPr dirty="0" err="1"/>
                        <a:t>astype</a:t>
                      </a:r>
                      <a:r>
                        <a:rPr dirty="0"/>
                        <a:t>(str) </a:t>
                      </a:r>
                      <a:r>
                        <a:rPr lang="en-GB" dirty="0"/>
                        <a:t>-</a:t>
                      </a:r>
                      <a:r>
                        <a:rPr dirty="0"/>
                        <a:t> </a:t>
                      </a:r>
                      <a:r>
                        <a:rPr lang="en-GB" dirty="0"/>
                        <a:t>doesn’t</a:t>
                      </a:r>
                      <a:r>
                        <a:rPr dirty="0"/>
                        <a:t> match</a:t>
                      </a:r>
                      <a:r>
                        <a:rPr lang="en-GB" dirty="0"/>
                        <a:t>(?)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Fixed with astype + iloc guard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non_fuel_startup_cost missing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KeyError on some generators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setdefault(0) fallback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Block-level reference (</a:t>
                      </a:r>
                      <a:r>
                        <a:rPr dirty="0" err="1"/>
                        <a:t>load_scaling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Wrong block crash w/ Texas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Fixed to investmentStage 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time_keys</a:t>
                      </a:r>
                      <a:r>
                        <a:rPr dirty="0"/>
                        <a:t> Prescient 2.2.2 </a:t>
                      </a:r>
                      <a:r>
                        <a:rPr dirty="0" err="1"/>
                        <a:t>compat</a:t>
                      </a:r>
                      <a:endParaRPr dirty="0"/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 fallback for numeric keys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Date string fallback added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Storage guard (no storage.csv)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GB" dirty="0"/>
                        <a:t>Might be a</a:t>
                      </a:r>
                      <a:r>
                        <a:rPr dirty="0" err="1"/>
                        <a:t>ttribute</a:t>
                      </a:r>
                      <a:r>
                        <a:rPr lang="en-GB" dirty="0"/>
                        <a:t>e</a:t>
                      </a:r>
                      <a:r>
                        <a:rPr dirty="0" err="1"/>
                        <a:t>rror</a:t>
                      </a:r>
                      <a:r>
                        <a:rPr lang="en-GB" dirty="0"/>
                        <a:t> in the flow balance part but it’s quite different in the two version. I haven’t check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hasattr</a:t>
                      </a:r>
                      <a:r>
                        <a:rPr dirty="0"/>
                        <a:t>() guard added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7492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main has been refactored into </a:t>
            </a:r>
            <a:r>
              <a:rPr sz="1400" b="0" dirty="0" err="1">
                <a:solidFill>
                  <a:srgbClr val="333333"/>
                </a:solidFill>
              </a:rPr>
              <a:t>model_library</a:t>
            </a:r>
            <a:r>
              <a:rPr sz="1400" b="0" dirty="0">
                <a:solidFill>
                  <a:srgbClr val="333333"/>
                </a:solidFill>
              </a:rPr>
              <a:t>/ modules, but some refactoring dropped working code (e.g., cost param declarations).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303520" cy="2467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B3A5C"/>
                </a:solidFill>
              </a:rPr>
              <a:t>main:</a:t>
            </a:r>
          </a:p>
          <a:p>
            <a:pPr>
              <a:spcAft>
                <a:spcPts val="800"/>
              </a:spcAft>
            </a:pPr>
            <a:r>
              <a:rPr sz="1400" b="0" dirty="0" err="1">
                <a:solidFill>
                  <a:srgbClr val="333333"/>
                </a:solidFill>
              </a:rPr>
              <a:t>renewableCapacityNameplate</a:t>
            </a:r>
            <a:r>
              <a:rPr sz="1400" b="0" dirty="0">
                <a:solidFill>
                  <a:srgbClr val="333333"/>
                </a:solidFill>
              </a:rPr>
              <a:t>: takes max across all representative periods (</a:t>
            </a:r>
            <a:r>
              <a:rPr sz="1400" b="0" dirty="0" err="1">
                <a:solidFill>
                  <a:srgbClr val="333333"/>
                </a:solidFill>
              </a:rPr>
              <a:t>commitment_period</a:t>
            </a:r>
            <a:r>
              <a:rPr sz="1400" b="0" dirty="0">
                <a:solidFill>
                  <a:srgbClr val="333333"/>
                </a:solidFill>
              </a:rPr>
              <a:t> only looks at period 1)</a:t>
            </a:r>
          </a:p>
          <a:p>
            <a:pPr>
              <a:spcAft>
                <a:spcPts val="800"/>
              </a:spcAft>
            </a:pPr>
            <a:r>
              <a:rPr sz="1400" b="0" dirty="0" err="1">
                <a:solidFill>
                  <a:srgbClr val="333333"/>
                </a:solidFill>
              </a:rPr>
              <a:t>load_prescient</a:t>
            </a:r>
            <a:r>
              <a:rPr sz="1400" b="0" dirty="0">
                <a:solidFill>
                  <a:srgbClr val="333333"/>
                </a:solidFill>
              </a:rPr>
              <a:t>: fully parameterized (</a:t>
            </a:r>
            <a:r>
              <a:rPr sz="1400" b="0" dirty="0" err="1">
                <a:solidFill>
                  <a:srgbClr val="333333"/>
                </a:solidFill>
              </a:rPr>
              <a:t>start_date</a:t>
            </a:r>
            <a:r>
              <a:rPr sz="1400" b="0" dirty="0">
                <a:solidFill>
                  <a:srgbClr val="333333"/>
                </a:solidFill>
              </a:rPr>
              <a:t>, </a:t>
            </a:r>
            <a:r>
              <a:rPr sz="1400" b="0" dirty="0" err="1">
                <a:solidFill>
                  <a:srgbClr val="333333"/>
                </a:solidFill>
              </a:rPr>
              <a:t>sced_freq</a:t>
            </a:r>
            <a:r>
              <a:rPr sz="1400" b="0" dirty="0">
                <a:solidFill>
                  <a:srgbClr val="333333"/>
                </a:solidFill>
              </a:rPr>
              <a:t>, </a:t>
            </a:r>
            <a:r>
              <a:rPr sz="1400" b="0" dirty="0" err="1">
                <a:solidFill>
                  <a:srgbClr val="333333"/>
                </a:solidFill>
              </a:rPr>
              <a:t>num_steps</a:t>
            </a:r>
            <a:r>
              <a:rPr sz="1400" b="0" dirty="0">
                <a:solidFill>
                  <a:srgbClr val="333333"/>
                </a:solidFill>
              </a:rPr>
              <a:t>, </a:t>
            </a:r>
            <a:r>
              <a:rPr sz="1400" b="0" dirty="0" err="1">
                <a:solidFill>
                  <a:srgbClr val="333333"/>
                </a:solidFill>
              </a:rPr>
              <a:t>representative_dates</a:t>
            </a:r>
            <a:r>
              <a:rPr sz="1400" b="0" dirty="0">
                <a:solidFill>
                  <a:srgbClr val="333333"/>
                </a:solidFill>
              </a:rPr>
              <a:t> all configurable)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333333"/>
                </a:solidFill>
              </a:rPr>
              <a:t>Defensive checks in </a:t>
            </a:r>
            <a:r>
              <a:rPr sz="1400" b="0" dirty="0" err="1">
                <a:solidFill>
                  <a:srgbClr val="333333"/>
                </a:solidFill>
              </a:rPr>
              <a:t>load_default_data_settings</a:t>
            </a:r>
            <a:r>
              <a:rPr sz="1400" b="0" dirty="0">
                <a:solidFill>
                  <a:srgbClr val="333333"/>
                </a:solidFill>
              </a:rPr>
              <a:t> (guards against missing 'elements' or 'fuel' keys)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333333"/>
                </a:solidFill>
              </a:rPr>
              <a:t>Modular code organization (</a:t>
            </a:r>
            <a:r>
              <a:rPr sz="1400" b="0" dirty="0" err="1">
                <a:solidFill>
                  <a:srgbClr val="333333"/>
                </a:solidFill>
              </a:rPr>
              <a:t>model_library</a:t>
            </a:r>
            <a:r>
              <a:rPr sz="1400" b="0" dirty="0">
                <a:solidFill>
                  <a:srgbClr val="333333"/>
                </a:solidFill>
              </a:rPr>
              <a:t>/) — easier to maintain long-term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28800"/>
            <a:ext cx="5760720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dirty="0" err="1">
                <a:solidFill>
                  <a:srgbClr val="1B3A5C"/>
                </a:solidFill>
              </a:rPr>
              <a:t>commitment_period</a:t>
            </a:r>
            <a:r>
              <a:rPr sz="1400" b="1" dirty="0">
                <a:solidFill>
                  <a:srgbClr val="1B3A5C"/>
                </a:solidFill>
              </a:rPr>
              <a:t> does better: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333333"/>
                </a:solidFill>
              </a:rPr>
              <a:t>Actually runs the Texas case study end-to-end (load → model → </a:t>
            </a:r>
            <a:r>
              <a:rPr sz="1400" b="0" dirty="0" err="1">
                <a:solidFill>
                  <a:srgbClr val="333333"/>
                </a:solidFill>
              </a:rPr>
              <a:t>BigM</a:t>
            </a:r>
            <a:r>
              <a:rPr sz="1400" b="0" dirty="0">
                <a:solidFill>
                  <a:srgbClr val="333333"/>
                </a:solidFill>
              </a:rPr>
              <a:t> → solve)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333333"/>
                </a:solidFill>
              </a:rPr>
              <a:t>6 bug fixes that main </a:t>
            </a:r>
            <a:r>
              <a:rPr lang="en-US" sz="1400" b="0" dirty="0">
                <a:solidFill>
                  <a:srgbClr val="333333"/>
                </a:solidFill>
              </a:rPr>
              <a:t>might </a:t>
            </a:r>
            <a:r>
              <a:rPr sz="1400" b="0" dirty="0">
                <a:solidFill>
                  <a:srgbClr val="333333"/>
                </a:solidFill>
              </a:rPr>
              <a:t>still need (cost params, GEN UID, startup cost, block refs, </a:t>
            </a:r>
            <a:r>
              <a:rPr sz="1400" b="0" dirty="0" err="1">
                <a:solidFill>
                  <a:srgbClr val="333333"/>
                </a:solidFill>
              </a:rPr>
              <a:t>time_keys</a:t>
            </a:r>
            <a:r>
              <a:rPr sz="1400" b="0" dirty="0">
                <a:solidFill>
                  <a:srgbClr val="333333"/>
                </a:solidFill>
              </a:rPr>
              <a:t>, storage guard)</a:t>
            </a:r>
          </a:p>
          <a:p>
            <a:pPr>
              <a:spcAft>
                <a:spcPts val="800"/>
              </a:spcAft>
            </a:pPr>
            <a:r>
              <a:rPr sz="1400" b="0" dirty="0" err="1">
                <a:solidFill>
                  <a:srgbClr val="333333"/>
                </a:solidFill>
              </a:rPr>
              <a:t>rampUpRates</a:t>
            </a:r>
            <a:r>
              <a:rPr sz="1400" b="0" dirty="0">
                <a:solidFill>
                  <a:srgbClr val="333333"/>
                </a:solidFill>
              </a:rPr>
              <a:t> units = dimensionless (correct); main uses MW/min (misleading for percentage data)</a:t>
            </a:r>
          </a:p>
          <a:p>
            <a:pPr>
              <a:spcAft>
                <a:spcPts val="800"/>
              </a:spcAft>
            </a:pPr>
            <a:r>
              <a:rPr sz="1400" b="0" dirty="0">
                <a:solidFill>
                  <a:srgbClr val="333333"/>
                </a:solidFill>
              </a:rPr>
              <a:t>mutable=True on period lengths — enables 2hr/4hr commitment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49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1B3A5C"/>
                </a:solidFill>
              </a:rPr>
              <a:t>Ideal path: merge </a:t>
            </a:r>
            <a:r>
              <a:rPr sz="1500" b="1" dirty="0" err="1">
                <a:solidFill>
                  <a:srgbClr val="1B3A5C"/>
                </a:solidFill>
              </a:rPr>
              <a:t>commitment_period</a:t>
            </a:r>
            <a:r>
              <a:rPr sz="1500" b="1" dirty="0">
                <a:solidFill>
                  <a:srgbClr val="1B3A5C"/>
                </a:solidFill>
              </a:rPr>
              <a:t> bug fixes into main's modular structure, then adopt main's parameterization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Discussion: Version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Which GTEP should we run? Can we establish a shared benchmark?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C0392B"/>
                </a:solidFill>
              </a:rPr>
              <a:t>The problem:</a:t>
            </a:r>
          </a:p>
          <a:p>
            <a:pPr>
              <a:spcAft>
                <a:spcPts val="1500"/>
              </a:spcAft>
            </a:pPr>
            <a:r>
              <a:rPr sz="1500" b="0">
                <a:solidFill>
                  <a:srgbClr val="333333"/>
                </a:solidFill>
              </a:rPr>
              <a:t>GTEP main has been refactored significantly since the version I received. Main has new modular structure but introduced regressions (6 bugs that crash the Texas pipeline). My working branch has fixes but is monolithic.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B3A5C"/>
                </a:solidFill>
              </a:rPr>
              <a:t>What I'd like to propose: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1. Share the 6 bug fixes as a patch set (or PR) so main can run the Texas case again.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2. Define a reproducibility benchmark: same input data, same GTEP config → both of us get the same objective value and investment decisions.</a:t>
            </a:r>
          </a:p>
          <a:p>
            <a:pPr>
              <a:spcAft>
                <a:spcPts val="1500"/>
              </a:spcAft>
            </a:pPr>
            <a:r>
              <a:rPr sz="1500" b="0">
                <a:solidFill>
                  <a:srgbClr val="333333"/>
                </a:solidFill>
              </a:rPr>
              <a:t>3. Once we confirm the benchmark matches, I'll rebase my commitment-period work onto the fixed main.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B3A5C"/>
                </a:solidFill>
              </a:rPr>
              <a:t>Why this matters: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33333"/>
                </a:solidFill>
              </a:rPr>
              <a:t>Without version alignment, my PCM analysis may be validating a fleet that the latest GTEP wouldn't produce. The 2035 results are only as good as the GTEP solution they came from.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B3A5C"/>
                </a:solidFill>
              </a:rPr>
              <a:t>Key takeaways: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The 2035 GTEP fleet passes all hard PCM checks under normal conditions, but this is due to over-building, not good planning.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Under extreme conditions, real violations appear: reserve shortfall, NUC forced cycling, over-generation.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The GTEP codebase has diverged — main has regressions, working branch has fixes but needs main's improvements.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</a:rPr>
              <a:t>We need version alignment before the next round of GTEP runs.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B3A5C"/>
                </a:solidFill>
              </a:rPr>
              <a:t>Proposed next steps: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1. Share bug fix patch with collaborator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2. Run reproducibility benchmark together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3. Complete extreme scenario full-year PCM run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4. Add GTEP reserve constraints + startup cost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5. Resolve CRC Gurobi environment for commitment-period solve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721</Words>
  <Application>Microsoft Macintosh PowerPoint</Application>
  <PresentationFormat>Widescreen</PresentationFormat>
  <Paragraphs>59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Kay Lu</cp:lastModifiedBy>
  <cp:revision>2</cp:revision>
  <dcterms:created xsi:type="dcterms:W3CDTF">2013-01-27T09:14:16Z</dcterms:created>
  <dcterms:modified xsi:type="dcterms:W3CDTF">2026-05-21T17:26:57Z</dcterms:modified>
  <cp:category/>
</cp:coreProperties>
</file>