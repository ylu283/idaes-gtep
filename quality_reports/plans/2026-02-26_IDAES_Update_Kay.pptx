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3"/>
  </p:normalViewPr>
  <p:slideViewPr>
    <p:cSldViewPr snapToGrid="0" snapToObjects="1">
      <p:cViewPr>
        <p:scale>
          <a:sx n="109" d="100"/>
          <a:sy n="109" d="100"/>
        </p:scale>
        <p:origin x="872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8870A-D20B-9649-848A-6513B02366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A042-AEB8-9545-AE07-9B4DABE8D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6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TX-123BT test case - a 123-bus backbone model of the ERCOT system used in Lu et al. 2025. It has 292 generators across 6 fuel types and 188 transmission lines. The public dataset provides 5 years of hourly load, wind, and solar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convert the raw ERCOT data into Prescient's input format using a processing notebook. The key assumptions are fuel prices, generator flexibility parameters, and piecewise-linear cost curves with 4 segments. I use 2019 data to benchmark against the paper's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annual load-weighted LMP is about $25/MWh - generally positive. About 10% of bus-hours show negative prices, concentrated in wind-heavy zones. This is physically consistent behavior. However, the paper shows no negative LMP at all, which is a notable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DD6BB-6982-EB81-BDA2-819BA8DC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5E63A-8796-4E3A-0606-74468BF32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21819-06EA-8D29-2E68-DE5D1761F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Breaking it down by quarter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A477A-42FF-EAAF-FA3B-7DCA600D5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4298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EBA4-4EAF-E6BB-9284-6AADB002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8C73B-E8E2-C4EB-E066-8241978B5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B125E-6239-2090-671F-68D9A8C9F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62C68-09D2-6DA1-F442-DD2991A0C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27422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question is whether the specific differences model artifacts</a:t>
            </a:r>
            <a:r>
              <a:rPr lang="en-US" dirty="0"/>
              <a:t> and how to improve them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Next step is to go through the paper's original </a:t>
            </a:r>
            <a:r>
              <a:rPr dirty="0" err="1"/>
              <a:t>Pyomo</a:t>
            </a:r>
            <a:r>
              <a:rPr dirty="0"/>
              <a:t> SCUC model and compare against our Prescient configuration. I want to understand what's driving these hourly spikes. I also still have negative prices in spring months, but will address that after the </a:t>
            </a:r>
            <a:r>
              <a:rPr dirty="0" err="1"/>
              <a:t>Pyomo</a:t>
            </a:r>
            <a:r>
              <a:t> review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93410" y="1828800"/>
            <a:ext cx="630037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B3A5C"/>
                </a:solidFill>
              </a:defRPr>
            </a:pPr>
            <a:r>
              <a:rPr lang="en-US" dirty="0"/>
              <a:t>ERCOT 123 bus PCM update</a:t>
            </a:r>
            <a:endParaRPr dirty="0"/>
          </a:p>
          <a:p>
            <a:pPr algn="ctr">
              <a:spcBef>
                <a:spcPts val="1200"/>
              </a:spcBef>
              <a:defRPr sz="2200">
                <a:solidFill>
                  <a:srgbClr val="2C5F8A"/>
                </a:solidFill>
              </a:defRPr>
            </a:pPr>
            <a:r>
              <a:rPr dirty="0"/>
              <a:t>Benchmarking Prescient UC+ED Against Lu et al. 2025</a:t>
            </a:r>
          </a:p>
          <a:p>
            <a:pPr algn="ctr">
              <a:spcBef>
                <a:spcPts val="2400"/>
              </a:spcBef>
              <a:defRPr sz="1600">
                <a:solidFill>
                  <a:srgbClr val="666666"/>
                </a:solidFill>
              </a:defRPr>
            </a:pPr>
            <a:r>
              <a:rPr dirty="0"/>
              <a:t>TX-123BT ERCOT System  |  B-theta DC Power Flow  |  365-Day Simulation</a:t>
            </a:r>
            <a:endParaRPr lang="en-US" dirty="0"/>
          </a:p>
          <a:p>
            <a:pPr algn="ctr">
              <a:spcBef>
                <a:spcPts val="2400"/>
              </a:spcBef>
              <a:defRPr sz="1600">
                <a:solidFill>
                  <a:srgbClr val="666666"/>
                </a:solidFill>
              </a:defRPr>
            </a:pPr>
            <a:r>
              <a:rPr lang="en-US" dirty="0"/>
              <a:t>Kay Lu  | ND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F847D-665B-85E7-5153-83039B0C3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91" y="0"/>
            <a:ext cx="12335440" cy="925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8826" y="2286000"/>
            <a:ext cx="606954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ERCOT Data &amp; Processing</a:t>
            </a:r>
          </a:p>
          <a:p>
            <a:pPr algn="ctr">
              <a:defRPr sz="2200">
                <a:solidFill>
                  <a:srgbClr val="AACCEE"/>
                </a:solidFill>
              </a:defRPr>
            </a:pPr>
            <a:r>
              <a:rPr dirty="0"/>
              <a:t>TX-123BT test case, data pipeline,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TX-123BT Test Case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ERCOT 123-Bus Backbone Transmission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548640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333333"/>
                </a:solidFill>
              </a:rPr>
              <a:t>123-bus ERCOT backbone network (public dataset)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292 generators across 6 fuel types: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Nuclear, Natural Gas (CT), Coal, Wind, Solar, Hydro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188 transmission lines with impedance and ratings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5-year hourly profiles: load, wind, solar</a:t>
            </a:r>
            <a:r>
              <a:rPr lang="en-US" sz="1700" b="0" dirty="0">
                <a:solidFill>
                  <a:srgbClr val="333333"/>
                </a:solidFill>
              </a:rPr>
              <a:t> (2017-2021)</a:t>
            </a:r>
            <a:endParaRPr sz="17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8 weather zones: COAST, EAST, FWEST, NCENT, NORTH, SCENT, SOUTH, WEST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F6B35-6EDF-C0CD-33F1-A1D8155E5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646" y="1775989"/>
            <a:ext cx="4831689" cy="39847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Raw ERCOT data -&gt; </a:t>
            </a:r>
            <a:r>
              <a:rPr lang="en-US" dirty="0"/>
              <a:t>RTS-GMLC </a:t>
            </a:r>
            <a:r>
              <a:rPr dirty="0"/>
              <a:t>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502920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Raw data: Data_public_5year/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dirty="0" err="1">
                <a:solidFill>
                  <a:srgbClr val="333333"/>
                </a:solidFill>
              </a:rPr>
              <a:t>Bus_data.csv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Line_data.csv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Generator_data.xlsx</a:t>
            </a:r>
            <a:endParaRPr sz="1600" b="0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Daily load/wind/solar .txt files (5 years)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Output: </a:t>
            </a:r>
            <a:r>
              <a:rPr sz="1600" b="0" dirty="0" err="1">
                <a:solidFill>
                  <a:srgbClr val="333333"/>
                </a:solidFill>
              </a:rPr>
              <a:t>gen.csv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bus.csv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branch.csv</a:t>
            </a:r>
            <a:r>
              <a:rPr sz="1600" b="0" dirty="0">
                <a:solidFill>
                  <a:srgbClr val="333333"/>
                </a:solidFill>
              </a:rPr>
              <a:t>, timeseries CSVs</a:t>
            </a:r>
            <a:endParaRPr lang="en-US" sz="16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(</a:t>
            </a:r>
            <a:r>
              <a:rPr lang="en-US" sz="1600" u="sng" dirty="0">
                <a:solidFill>
                  <a:srgbClr val="333333"/>
                </a:solidFill>
              </a:rPr>
              <a:t>temporally removed 10 hydro gen for debug</a:t>
            </a:r>
            <a:r>
              <a:rPr lang="en-US" sz="160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US" sz="160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Assume quick startup, calculated fuel price curve based on paper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Changed egret fuel price curve calculation precision from 2 to 4 decimal places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333333"/>
                </a:solidFill>
              </a:rPr>
              <a:t>Prescient config: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B-theta DC power flow for RUC and SCED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48h RUC horizon, 24h SCED horizon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Perfect foresight (no forecast error)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874520"/>
          <a:ext cx="576072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Gas fuel price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$2.29/MMBTU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Coal fuel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$1.78/MMBTU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Nuclear fuel price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$0.81/MMBTU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Gas min up/down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2h / 1h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Coal min up/down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12h / 12h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Nuclear min up/down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48h / 48h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Cost curve segments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 (30-50-70-100% PMax)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8628" y="2286000"/>
            <a:ext cx="5409943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PCM Results</a:t>
            </a:r>
          </a:p>
          <a:p>
            <a:pPr algn="ctr">
              <a:defRPr sz="2200">
                <a:solidFill>
                  <a:srgbClr val="AACCEE"/>
                </a:solidFill>
              </a:defRPr>
            </a:pPr>
            <a:r>
              <a:rPr dirty="0"/>
              <a:t>Generally positive LMP ($24.73/MWh annual)</a:t>
            </a:r>
            <a:endParaRPr lang="en-US" dirty="0"/>
          </a:p>
          <a:p>
            <a:pPr algn="ctr">
              <a:defRPr sz="2200">
                <a:solidFill>
                  <a:srgbClr val="AACCEE"/>
                </a:solidFill>
              </a:defRPr>
            </a:pPr>
            <a:r>
              <a:rPr lang="en-US" dirty="0"/>
              <a:t>Differ from paper’s results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Annual LMP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Load-weighted system LMP: $24.73/MWh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Total demand: 383.8 TWh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Generation cost: $1.52B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600" b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Negative LMP: 10% of bus-hours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Concentrated in wind-heavy zones (NORTH, FWEST)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Physical: renewable oversupply behind transmission constraints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>However, in the paper there is no negative LMP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03EA2-621C-1163-A2AF-049F129AE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46" b="50000"/>
          <a:stretch>
            <a:fillRect/>
          </a:stretch>
        </p:blipFill>
        <p:spPr>
          <a:xfrm>
            <a:off x="8060166" y="1542624"/>
            <a:ext cx="3373419" cy="2530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4A60D-D5AB-5366-F41C-5BEC17D8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46" b="50000"/>
          <a:stretch>
            <a:fillRect/>
          </a:stretch>
        </p:blipFill>
        <p:spPr>
          <a:xfrm>
            <a:off x="8060166" y="4106763"/>
            <a:ext cx="3373419" cy="2530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02E1-93E0-D3A3-057D-CACC7561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B833AC-783A-3AF7-B2EB-101B9CE9098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Quarterly LMP Breakdown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3D53B-8D32-C1BE-753B-39A4FDC6B185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Q3 drives the annual average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CC1AE-4612-F2B3-FAF6-1D160E66F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10210"/>
              </p:ext>
            </p:extLst>
          </p:nvPr>
        </p:nvGraphicFramePr>
        <p:xfrm>
          <a:off x="575535" y="1965960"/>
          <a:ext cx="2436608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Load-Wt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Q1 (Jan-Mar)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$1.3/MWh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Q2 (Apr-Jun)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$3.0/MWh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Q3 (Jul-Sep)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$57.0/MWh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Q4 (Oct-Dec)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$8.8/MWh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23FB6D-8A84-D0B1-A52E-4387AB9C9C85}"/>
              </a:ext>
            </a:extLst>
          </p:cNvPr>
          <p:cNvSpPr txBox="1"/>
          <p:nvPr/>
        </p:nvSpPr>
        <p:spPr>
          <a:xfrm>
            <a:off x="188259" y="4278325"/>
            <a:ext cx="3371564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Q3 dominates annual average: peak cooling demand meets tight supply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Q1/Q2 near-zero: renewable oversupply in shoulder seasons</a:t>
            </a:r>
            <a:endParaRPr lang="en-US" sz="16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highlight>
                  <a:srgbClr val="00FFFF"/>
                </a:highlight>
              </a:rPr>
              <a:t>Mostly outside paper’s range</a:t>
            </a:r>
            <a:endParaRPr lang="en-US" sz="1600" b="0" dirty="0">
              <a:solidFill>
                <a:srgbClr val="333333"/>
              </a:solidFill>
              <a:highlight>
                <a:srgbClr val="00FFFF"/>
              </a:highlight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u="sng" dirty="0">
                <a:solidFill>
                  <a:srgbClr val="333333"/>
                </a:solidFill>
              </a:rPr>
              <a:t>From PCM LMP results in </a:t>
            </a:r>
            <a:r>
              <a:rPr lang="en-US" sz="1600" i="1" u="sng" dirty="0" err="1">
                <a:solidFill>
                  <a:srgbClr val="333333"/>
                </a:solidFill>
              </a:rPr>
              <a:t>bus_detail.csv</a:t>
            </a:r>
            <a:endParaRPr lang="en-US" sz="1600" i="1" u="sng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u="sng" dirty="0">
                <a:solidFill>
                  <a:srgbClr val="333333"/>
                </a:solidFill>
              </a:rPr>
              <a:t>Green bar came from paper’s table VI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E977E-2BD0-856D-514A-1378AAA84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177" y="1803917"/>
            <a:ext cx="5684823" cy="4353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C1E7FE-C305-7607-C19E-409684559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822" y="1832971"/>
            <a:ext cx="2947355" cy="241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099230-ED46-34C7-7D81-12618BDEA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202" y="4497741"/>
            <a:ext cx="3178975" cy="12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9B34-5D50-2FCE-6FD2-F9826449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E40163-D0FD-9AC7-5C4C-CCE2CE76442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Quarterly LMP Breakdown</a:t>
            </a:r>
            <a:r>
              <a:rPr lang="en-US" dirty="0"/>
              <a:t> – using price in </a:t>
            </a:r>
            <a:r>
              <a:rPr lang="en-US" dirty="0" err="1"/>
              <a:t>hourly_summary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3C943-9D9C-8936-886D-C2AF1B83418B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US" dirty="0"/>
              <a:t>Generating positive but higher avg price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55E575-C870-CBF9-7163-D48013C98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32728"/>
              </p:ext>
            </p:extLst>
          </p:nvPr>
        </p:nvGraphicFramePr>
        <p:xfrm>
          <a:off x="575535" y="1965960"/>
          <a:ext cx="2436608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Load-Wt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Q1 (Jan-Mar)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28.9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Q2 (Apr-Jun)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40.2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Q3 (Jul-Sep)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60.9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Q4 (Oct-Dec)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28.4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4AE698-437E-4FDC-54E3-C0CF9D85C8F4}"/>
              </a:ext>
            </a:extLst>
          </p:cNvPr>
          <p:cNvSpPr txBox="1"/>
          <p:nvPr/>
        </p:nvSpPr>
        <p:spPr>
          <a:xfrm>
            <a:off x="188259" y="4278325"/>
            <a:ext cx="3371564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Results generally higher than paper’s LMP, but showing a more similar trend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u="sng" dirty="0">
                <a:solidFill>
                  <a:srgbClr val="333333"/>
                </a:solidFill>
              </a:rPr>
              <a:t>From PCM </a:t>
            </a:r>
            <a:r>
              <a:rPr lang="en-US" sz="1600" i="1" u="sng" dirty="0">
                <a:solidFill>
                  <a:srgbClr val="333333"/>
                </a:solidFill>
              </a:rPr>
              <a:t>price</a:t>
            </a:r>
            <a:r>
              <a:rPr lang="en-US" sz="1600" u="sng" dirty="0">
                <a:solidFill>
                  <a:srgbClr val="333333"/>
                </a:solidFill>
              </a:rPr>
              <a:t> results in </a:t>
            </a:r>
            <a:r>
              <a:rPr lang="en-US" sz="1600" i="1" u="sng" dirty="0" err="1">
                <a:solidFill>
                  <a:srgbClr val="333333"/>
                </a:solidFill>
              </a:rPr>
              <a:t>hourly_summary.csv</a:t>
            </a:r>
            <a:r>
              <a:rPr lang="en-US" sz="1600" i="1" u="sng" dirty="0">
                <a:solidFill>
                  <a:srgbClr val="333333"/>
                </a:solidFill>
              </a:rPr>
              <a:t>, </a:t>
            </a:r>
            <a:r>
              <a:rPr lang="en-US" sz="1600" u="sng" dirty="0">
                <a:solidFill>
                  <a:srgbClr val="333333"/>
                </a:solidFill>
                <a:highlight>
                  <a:srgbClr val="00FFFF"/>
                </a:highlight>
              </a:rPr>
              <a:t>which are all positive and within/close to paper’s range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333333"/>
                </a:solidFill>
              </a:rPr>
              <a:t>	price = </a:t>
            </a:r>
            <a:r>
              <a:rPr lang="en-US" sz="1600" b="0" dirty="0" err="1">
                <a:solidFill>
                  <a:srgbClr val="333333"/>
                </a:solidFill>
              </a:rPr>
              <a:t>total_generation</a:t>
            </a:r>
            <a:r>
              <a:rPr lang="en-US" sz="1600" b="0" dirty="0">
                <a:solidFill>
                  <a:srgbClr val="333333"/>
                </a:solidFill>
              </a:rPr>
              <a:t>/</a:t>
            </a:r>
            <a:r>
              <a:rPr lang="en-US" sz="1600" b="0" dirty="0" err="1">
                <a:solidFill>
                  <a:srgbClr val="333333"/>
                </a:solidFill>
              </a:rPr>
              <a:t>total_demand</a:t>
            </a: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002CC-E5CD-E137-F78B-DAE96A3C4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22" y="1832971"/>
            <a:ext cx="2947355" cy="241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63C954-707B-2DD9-77A6-6E16655EA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089"/>
          <a:stretch>
            <a:fillRect/>
          </a:stretch>
        </p:blipFill>
        <p:spPr>
          <a:xfrm>
            <a:off x="6594901" y="4278325"/>
            <a:ext cx="5521901" cy="1856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633DC-4FE7-E912-C787-1B8B4EDD7C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64" b="47225"/>
          <a:stretch>
            <a:fillRect/>
          </a:stretch>
        </p:blipFill>
        <p:spPr>
          <a:xfrm>
            <a:off x="6507177" y="2270611"/>
            <a:ext cx="5521901" cy="1856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60537F-FDAD-AB0E-AC7B-AB8DC6B71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084" y="4497741"/>
            <a:ext cx="3178975" cy="12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7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Benchmarking vs Lu et al.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Same network, different fleet and LMP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6963508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Paper: 2019 SCUC on TX-123BT, all-positive LMPs ($10-220/MWh)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Our run: 2019 </a:t>
            </a:r>
            <a:r>
              <a:rPr lang="en-US" sz="1700" b="0" dirty="0">
                <a:solidFill>
                  <a:srgbClr val="333333"/>
                </a:solidFill>
              </a:rPr>
              <a:t>UC+ED </a:t>
            </a:r>
            <a:r>
              <a:rPr sz="1700" b="0" dirty="0">
                <a:solidFill>
                  <a:srgbClr val="333333"/>
                </a:solidFill>
              </a:rPr>
              <a:t>data, LMP range -$1000 to +$1395/MWh</a:t>
            </a:r>
            <a:r>
              <a:rPr lang="en-US" sz="1700" dirty="0">
                <a:solidFill>
                  <a:srgbClr val="333333"/>
                </a:solidFill>
              </a:rPr>
              <a:t>, or $5 to $146/MWh </a:t>
            </a:r>
            <a:endParaRPr sz="1700" b="0" dirty="0">
              <a:solidFill>
                <a:srgbClr val="333333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942880"/>
              </p:ext>
            </p:extLst>
          </p:nvPr>
        </p:nvGraphicFramePr>
        <p:xfrm>
          <a:off x="457200" y="2854275"/>
          <a:ext cx="6096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Network topology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Same 123-bus, 188-line backbone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Wind/solar profiles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Same temporal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Congestion count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~6-7 avg congested lines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LMP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Ours much wider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Generator fleet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282 vs 292 units (no hydro)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32120"/>
            <a:ext cx="5908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1B3A5C"/>
                </a:solidFill>
              </a:rPr>
              <a:t>Key question</a:t>
            </a:r>
            <a:r>
              <a:rPr lang="en-US" sz="1800" b="1" dirty="0">
                <a:solidFill>
                  <a:srgbClr val="1B3A5C"/>
                </a:solidFill>
              </a:rPr>
              <a:t> remain to investigate</a:t>
            </a:r>
            <a:r>
              <a:rPr sz="1800" b="1" dirty="0">
                <a:solidFill>
                  <a:srgbClr val="1B3A5C"/>
                </a:solidFill>
              </a:rPr>
              <a:t>: </a:t>
            </a:r>
            <a:r>
              <a:rPr lang="en-US" b="1" dirty="0">
                <a:solidFill>
                  <a:srgbClr val="1B3A5C"/>
                </a:solidFill>
              </a:rPr>
              <a:t>a</a:t>
            </a:r>
            <a:r>
              <a:rPr sz="1800" b="1" dirty="0">
                <a:solidFill>
                  <a:srgbClr val="1B3A5C"/>
                </a:solidFill>
              </a:rPr>
              <a:t>re LMP differences some model artifacts?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F93E0-5C96-5B56-7188-AAA663DAC29D}"/>
              </a:ext>
            </a:extLst>
          </p:cNvPr>
          <p:cNvSpPr txBox="1"/>
          <p:nvPr/>
        </p:nvSpPr>
        <p:spPr>
          <a:xfrm>
            <a:off x="7303477" y="2266905"/>
            <a:ext cx="502920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If we take LMP from </a:t>
            </a:r>
            <a:r>
              <a:rPr lang="en-US" sz="1600" i="1" u="sng" dirty="0" err="1">
                <a:solidFill>
                  <a:srgbClr val="333333"/>
                </a:solidFill>
              </a:rPr>
              <a:t>bus_detail.csv</a:t>
            </a:r>
            <a:r>
              <a:rPr lang="en-US" sz="1600" i="1" u="sng" dirty="0">
                <a:solidFill>
                  <a:srgbClr val="333333"/>
                </a:solidFill>
              </a:rPr>
              <a:t>, </a:t>
            </a:r>
            <a:r>
              <a:rPr lang="en-US" sz="1600" dirty="0">
                <a:solidFill>
                  <a:srgbClr val="333333"/>
                </a:solidFill>
              </a:rPr>
              <a:t>quarterly averages are positive and reasonable and within benchmarks’ range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333333"/>
                </a:solidFill>
              </a:rPr>
              <a:t>But Q2 Q4 hourly spikes far exceed paper benchmarks: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Most hours within range, but spikes are extreme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US" sz="1600" i="1" u="sng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333333"/>
                </a:solidFill>
              </a:rPr>
              <a:t>If we tak</a:t>
            </a:r>
            <a:r>
              <a:rPr lang="en-US" sz="1600" dirty="0">
                <a:solidFill>
                  <a:srgbClr val="333333"/>
                </a:solidFill>
              </a:rPr>
              <a:t>e the price from </a:t>
            </a:r>
            <a:r>
              <a:rPr lang="en-US" sz="1600" i="1" u="sng" dirty="0" err="1">
                <a:solidFill>
                  <a:srgbClr val="333333"/>
                </a:solidFill>
              </a:rPr>
              <a:t>hourly_summary.csv</a:t>
            </a:r>
            <a:r>
              <a:rPr lang="en-US" sz="1600" i="1" u="sng" dirty="0">
                <a:solidFill>
                  <a:srgbClr val="333333"/>
                </a:solidFill>
              </a:rPr>
              <a:t>,</a:t>
            </a:r>
            <a:r>
              <a:rPr lang="en-US" sz="1600" b="0" dirty="0">
                <a:solidFill>
                  <a:srgbClr val="333333"/>
                </a:solidFill>
              </a:rPr>
              <a:t> q</a:t>
            </a:r>
            <a:r>
              <a:rPr sz="1600" b="0" dirty="0">
                <a:solidFill>
                  <a:srgbClr val="333333"/>
                </a:solidFill>
              </a:rPr>
              <a:t>uarterly averages are</a:t>
            </a:r>
            <a:r>
              <a:rPr lang="en-US" sz="1600" b="0" dirty="0">
                <a:solidFill>
                  <a:srgbClr val="333333"/>
                </a:solidFill>
              </a:rPr>
              <a:t> generally close to 0 and </a:t>
            </a:r>
            <a:r>
              <a:rPr lang="en-US" sz="1600" b="1" dirty="0">
                <a:solidFill>
                  <a:srgbClr val="333333"/>
                </a:solidFill>
              </a:rPr>
              <a:t>hourly data are many times below 0</a:t>
            </a: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588453-477B-D91D-8F8D-C9F09690D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921" y="4739377"/>
            <a:ext cx="5490774" cy="1694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Investigate Pyomo model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058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333333"/>
                </a:solidFill>
              </a:rPr>
              <a:t>1. Investigate </a:t>
            </a:r>
            <a:r>
              <a:rPr sz="1800" b="1" dirty="0" err="1">
                <a:solidFill>
                  <a:srgbClr val="333333"/>
                </a:solidFill>
              </a:rPr>
              <a:t>Pyomo</a:t>
            </a:r>
            <a:r>
              <a:rPr sz="1800" b="1" dirty="0">
                <a:solidFill>
                  <a:srgbClr val="333333"/>
                </a:solidFill>
              </a:rPr>
              <a:t> model formulation for</a:t>
            </a:r>
            <a:r>
              <a:rPr lang="en-US" sz="1800" b="1" dirty="0">
                <a:solidFill>
                  <a:srgbClr val="333333"/>
                </a:solidFill>
              </a:rPr>
              <a:t> the original paper</a:t>
            </a:r>
            <a:endParaRPr sz="1800" b="1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Examine cost expression and generator constraints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Check commitment decisions </a:t>
            </a:r>
            <a:r>
              <a:rPr lang="en-US" dirty="0">
                <a:solidFill>
                  <a:srgbClr val="333333"/>
                </a:solidFill>
              </a:rPr>
              <a:t>in our PCM</a:t>
            </a:r>
            <a:endParaRPr sz="1800" b="0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Compare against paper's original SCUC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333333"/>
                </a:solidFill>
              </a:rPr>
              <a:t>2. </a:t>
            </a:r>
            <a:r>
              <a:rPr lang="en-US" b="1" dirty="0">
                <a:solidFill>
                  <a:srgbClr val="333333"/>
                </a:solidFill>
              </a:rPr>
              <a:t>Price deviation</a:t>
            </a:r>
            <a:endParaRPr sz="1800" b="1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</a:rPr>
              <a:t>If st</a:t>
            </a:r>
            <a:r>
              <a:rPr sz="1800" b="0" dirty="0">
                <a:solidFill>
                  <a:srgbClr val="333333"/>
                </a:solidFill>
              </a:rPr>
              <a:t>ill present </a:t>
            </a:r>
            <a:r>
              <a:rPr lang="en-US" dirty="0">
                <a:solidFill>
                  <a:srgbClr val="333333"/>
                </a:solidFill>
              </a:rPr>
              <a:t>after aligning with paper’s model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Will investigate after </a:t>
            </a:r>
            <a:r>
              <a:rPr sz="1800" b="0" dirty="0" err="1">
                <a:solidFill>
                  <a:srgbClr val="333333"/>
                </a:solidFill>
              </a:rPr>
              <a:t>Pyomo</a:t>
            </a:r>
            <a:r>
              <a:rPr sz="1800" b="0" dirty="0">
                <a:solidFill>
                  <a:srgbClr val="333333"/>
                </a:solidFill>
              </a:rPr>
              <a:t> model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1B3A5C"/>
                </a:solidFill>
              </a:rPr>
              <a:t>Goal: </a:t>
            </a:r>
            <a:r>
              <a:rPr lang="en-US" sz="1800" b="1" dirty="0">
                <a:solidFill>
                  <a:srgbClr val="1B3A5C"/>
                </a:solidFill>
              </a:rPr>
              <a:t>d</a:t>
            </a:r>
            <a:r>
              <a:rPr sz="1800" b="1" dirty="0">
                <a:solidFill>
                  <a:srgbClr val="1B3A5C"/>
                </a:solidFill>
              </a:rPr>
              <a:t>etermine if </a:t>
            </a:r>
            <a:r>
              <a:rPr lang="en-US" sz="1800" b="1" dirty="0">
                <a:solidFill>
                  <a:srgbClr val="1B3A5C"/>
                </a:solidFill>
              </a:rPr>
              <a:t>deviation</a:t>
            </a:r>
            <a:r>
              <a:rPr sz="1800" b="1" dirty="0">
                <a:solidFill>
                  <a:srgbClr val="1B3A5C"/>
                </a:solidFill>
              </a:rPr>
              <a:t> model-driven </a:t>
            </a:r>
            <a:r>
              <a:rPr lang="en-US" b="1" dirty="0">
                <a:solidFill>
                  <a:srgbClr val="1B3A5C"/>
                </a:solidFill>
              </a:rPr>
              <a:t>and how to </a:t>
            </a:r>
            <a:r>
              <a:rPr sz="1800" b="1" dirty="0">
                <a:solidFill>
                  <a:srgbClr val="1B3A5C"/>
                </a:solidFill>
              </a:rPr>
              <a:t>fix</a:t>
            </a:r>
            <a:r>
              <a:rPr lang="en-US" sz="1800" b="1" dirty="0">
                <a:solidFill>
                  <a:srgbClr val="1B3A5C"/>
                </a:solidFill>
              </a:rPr>
              <a:t> them.</a:t>
            </a:r>
            <a:endParaRPr sz="1800" b="1" dirty="0">
              <a:solidFill>
                <a:srgbClr val="1B3A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1005</Words>
  <Application>Microsoft Macintosh PowerPoint</Application>
  <PresentationFormat>Widescreen</PresentationFormat>
  <Paragraphs>128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2</cp:revision>
  <dcterms:created xsi:type="dcterms:W3CDTF">2013-01-27T09:14:16Z</dcterms:created>
  <dcterms:modified xsi:type="dcterms:W3CDTF">2026-02-26T18:56:03Z</dcterms:modified>
  <cp:category/>
</cp:coreProperties>
</file>