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60" r:id="rId10"/>
    <p:sldId id="261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5"/>
  </p:normalViewPr>
  <p:slideViewPr>
    <p:cSldViewPr snapToGrid="0" snapToObjects="1">
      <p:cViewPr>
        <p:scale>
          <a:sx n="122" d="100"/>
          <a:sy n="122" d="100"/>
        </p:scale>
        <p:origin x="392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870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7F94A-EAC6-EB14-E55C-A662D0BB0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FAE25-CB17-8A54-A438-79776749C0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54C30-5E01-A695-2EF3-773704A08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3A2FC-B908-99C5-153C-29D22A230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37759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FA427-DF18-8B68-BB19-544DB695F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4C799-0AB4-0916-E9A7-01D4701D4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8BEC6-CB58-9892-934C-0BF85ADD2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paper uses explicit fixed-commitment re-solve for dual prices; Prescient prices come from its integrated RUC/SCED market engine.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7A8EB-6A7D-E303-7B5B-68AF5EA30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48460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1BB53-546E-571E-C36B-33B7105F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41B22-3427-FC8B-3C73-C187A39991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4FA35-570B-0E53-EE13-0DFDB9B14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F3681-3A04-F520-990E-29A43F657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09193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5A5D-7FDC-2430-4A60-9DEEC5C2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E5111-6BD2-9067-765C-0516B6872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538D2-6AF5-7CB5-9BE4-F243D6690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58153-EB8C-2D8F-9A08-B9C374EFD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60834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56CA1-341F-1AFE-9117-E0AC7E583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565B4-0664-1320-E492-E7C0C8990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7EFB0-CFC8-5B07-D059-F8AB1FC9E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F4B14-B7EC-CC1A-3453-7287D6D7A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48034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 /Users/yilu/Documents/GitHub/idaes-gtep/quality_reports/curtailment_penalty_experiment_setup_2026-02-28.md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Sources: /Users/yilu/Documents/GitHub/idaes-gtep/gtep/pcm_analysis/PCM_result_hydro_q1_comparison.json; /Users/yilu/Documents/GitHub/idaes-gtep/gtep/pcm_analysis/prescient_lmp_analysis_with_hydro_q1.ipynb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closing slide is for meeting decisions and near-term execution commitments.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Prescient PCM vs Paper UC: Benchmarking Status and Effort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TX-123BT ERCOT | Collaborator/Supervisor Update |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200" b="0">
                <a:solidFill>
                  <a:srgbClr val="333333"/>
                </a:solidFill>
              </a:rPr>
              <a:t>Purpose: estimate effort needed to align Prescient PCM with paper UC benchmark.</a:t>
            </a:r>
          </a:p>
          <a:p>
            <a:pPr>
              <a:spcAft>
                <a:spcPts val="500"/>
              </a:spcAft>
            </a:pPr>
            <a:r>
              <a:rPr sz="2200" b="0">
                <a:solidFill>
                  <a:srgbClr val="333333"/>
                </a:solidFill>
              </a:rPr>
              <a:t>Coverage: model-difference audit, curtailment experiment status, hydro Q1 benchmark signal.</a:t>
            </a:r>
          </a:p>
          <a:p>
            <a:pPr>
              <a:spcAft>
                <a:spcPts val="500"/>
              </a:spcAft>
            </a:pPr>
            <a:r>
              <a:rPr sz="2200" b="0">
                <a:solidFill>
                  <a:srgbClr val="333333"/>
                </a:solidFill>
              </a:rPr>
              <a:t>Decision focus: where to invest benchmarking effort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IDAES-GTEP | Benchmarking update section (~20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rPr lang="en-GB" dirty="0"/>
              <a:t>Updates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8316686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GB" sz="1700" b="0" dirty="0">
                <a:solidFill>
                  <a:srgbClr val="333333"/>
                </a:solidFill>
              </a:rPr>
              <a:t>Comparing paper’s </a:t>
            </a:r>
            <a:r>
              <a:rPr lang="en-GB" sz="1700" b="0" dirty="0" err="1">
                <a:solidFill>
                  <a:srgbClr val="333333"/>
                </a:solidFill>
              </a:rPr>
              <a:t>pyomo</a:t>
            </a:r>
            <a:r>
              <a:rPr lang="en-GB" sz="1700" b="0" dirty="0">
                <a:solidFill>
                  <a:srgbClr val="333333"/>
                </a:solidFill>
              </a:rPr>
              <a:t> and our PCM, main d</a:t>
            </a:r>
            <a:r>
              <a:rPr sz="1700" b="0" dirty="0" err="1">
                <a:solidFill>
                  <a:srgbClr val="333333"/>
                </a:solidFill>
              </a:rPr>
              <a:t>ifferences</a:t>
            </a:r>
            <a:r>
              <a:rPr lang="en-GB" sz="1700" dirty="0">
                <a:solidFill>
                  <a:srgbClr val="333333"/>
                </a:solidFill>
              </a:rPr>
              <a:t> are</a:t>
            </a:r>
            <a:r>
              <a:rPr sz="1700" b="0" dirty="0">
                <a:solidFill>
                  <a:srgbClr val="333333"/>
                </a:solidFill>
              </a:rPr>
              <a:t> renewable treatment, chronology, pricing workflow.</a:t>
            </a:r>
          </a:p>
          <a:p>
            <a:pPr>
              <a:spcAft>
                <a:spcPts val="500"/>
              </a:spcAft>
            </a:pPr>
            <a:r>
              <a:rPr lang="en-GB" sz="1700" b="0" dirty="0">
                <a:solidFill>
                  <a:srgbClr val="F39C12"/>
                </a:solidFill>
              </a:rPr>
              <a:t>[update] </a:t>
            </a:r>
            <a:r>
              <a:rPr sz="1700" b="0" dirty="0">
                <a:solidFill>
                  <a:srgbClr val="F39C12"/>
                </a:solidFill>
              </a:rPr>
              <a:t>Hydro inclusion in Q1 did not materially improve alignment to paper behavior.</a:t>
            </a:r>
            <a:endParaRPr lang="en-GB" sz="1700" b="0" dirty="0">
              <a:solidFill>
                <a:srgbClr val="F39C12"/>
              </a:solidFill>
            </a:endParaRPr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F39C12"/>
                </a:solidFill>
              </a:rPr>
              <a:t>[update] I updated curtailment implementation and redo a Q1, it is still running after 4 days. </a:t>
            </a:r>
            <a:endParaRPr sz="1700" b="0" dirty="0">
              <a:solidFill>
                <a:srgbClr val="F39C1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8650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Renewables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Subtracted from load (net-load)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Explicit generators in clearing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E6B019E-99DD-BAAA-6ADE-1BCDE8D47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17373"/>
            <a:ext cx="5104347" cy="2773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5A1F3E-57CD-344F-E81C-BF0F00452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2895601"/>
            <a:ext cx="4779793" cy="2547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EE9204-629E-F1BD-7D9B-C774D4C12C16}"/>
              </a:ext>
            </a:extLst>
          </p:cNvPr>
          <p:cNvSpPr txBox="1"/>
          <p:nvPr/>
        </p:nvSpPr>
        <p:spPr>
          <a:xfrm>
            <a:off x="5557156" y="5760720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aper removed wind/solar from demand before optimization; Prescient keeps renewable units explicit in market clearing.</a:t>
            </a:r>
            <a:endParaRPr lang="en-US" dirty="0">
              <a:highlight>
                <a:srgbClr val="00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409C5-C55B-C84C-E54B-DA96F3A9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134544-59B7-05B0-9768-32FF6E8EDAC8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443A48-735C-AF8F-49B9-126830682B8E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A86A98-E57F-00F5-7B69-2F9D0ABFF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795028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Curtailment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 relief variable in balance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Penalty/cap mediated behavior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454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79F35-3D1E-F65F-6367-3EE7A4B7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78F873-E6D2-96E6-08E4-AF637FCCEC1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0947A8-E95A-C535-DD68-4EF281F00083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694F29-4222-C4DF-2F3D-949E11E05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20114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Pricing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Two-pass dual pricing</a:t>
                      </a:r>
                      <a:r>
                        <a:rPr lang="en-GB" dirty="0"/>
                        <a:t>; fixed commitment</a:t>
                      </a:r>
                      <a:endParaRPr dirty="0"/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Integrated RUC/SCED pricing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84DD420-EB14-D62A-C4C1-1AB70BC8C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2463"/>
            <a:ext cx="6743435" cy="13817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2FD2C7-8EDA-BE0D-95D6-C7021CD34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72187"/>
            <a:ext cx="7244176" cy="1268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266CB2-AD15-F831-B9EE-67E47E71B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573163"/>
            <a:ext cx="6743433" cy="969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8ED705-6B8D-B76E-AF25-E9FDB8279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1376" y="2939775"/>
            <a:ext cx="5740893" cy="111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45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3A19A-A895-1245-F696-19D0250C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57918C-76B5-5315-7D3E-F7A965787161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E62074-C24D-1394-AE07-D8F65F1130EA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61765B-9573-3D3F-5189-1698E4CFB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29074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Chronology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Daily independent runs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Rolling horizons (90d, look-ahead)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DBFC6B6-E27A-52F1-8A5C-44BDCAE313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142"/>
          <a:stretch>
            <a:fillRect/>
          </a:stretch>
        </p:blipFill>
        <p:spPr>
          <a:xfrm>
            <a:off x="457200" y="3441313"/>
            <a:ext cx="5252544" cy="10704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37E8FF-1B6B-E8DE-C681-D040B6BBA8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142"/>
          <a:stretch>
            <a:fillRect/>
          </a:stretch>
        </p:blipFill>
        <p:spPr>
          <a:xfrm>
            <a:off x="6939456" y="3481603"/>
            <a:ext cx="5252544" cy="10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97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A595-ED8D-3426-9550-453C6151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3C4F22-3703-BDD3-901E-FED3306B2E5A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26E6EA-F783-B7B6-F2F7-4CBA8429CE60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176CDC-3FA9-43FE-557C-ED58B29AD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926276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Reserves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Custom reserve constraints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reserve_factor</a:t>
                      </a:r>
                      <a:r>
                        <a:rPr dirty="0"/>
                        <a:t> design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07A8680-C660-F324-B3C0-F42A01A58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17" y="3242451"/>
            <a:ext cx="6440214" cy="1212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6A4E06-2C1A-3FA0-8005-6BFC24698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440" y="3727440"/>
            <a:ext cx="4272430" cy="57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14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1A294-4A3F-AF5A-23B8-09CE303C5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30D38C-FBBA-E9D2-8924-D7A6E8E2AEC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B5175B-031B-844B-7CF7-6FBC95721A57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0B584E-5428-D62B-2324-6562812CD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25451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Line ratings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Day-specific / hourly DLR options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RTS-GMLC path unless remapped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08CCFB9-5A60-6145-344E-B50B55CD5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69" y="2998076"/>
            <a:ext cx="60325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04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Curtailment Penalty Work: Current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Experiment framework in place; run still in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7040880" cy="120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>
                <a:solidFill>
                  <a:srgbClr val="F39C12"/>
                </a:solidFill>
              </a:rPr>
              <a:t>Ongoing 4-day simulation for 90-day experiment; run not finished yet.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333333"/>
                </a:solidFill>
              </a:rPr>
              <a:t>Experiment implemented in current Prescient pipeline and reproducible by case manifest.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333333"/>
                </a:solidFill>
              </a:rPr>
              <a:t>This section intentionally remains brief until the full run is complete.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0" y="2057400"/>
          <a:ext cx="402336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Penalty sweep ($/MWh)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8CEE041-F688-874E-91F0-9E4DBFF07A27}"/>
              </a:ext>
            </a:extLst>
          </p:cNvPr>
          <p:cNvSpPr txBox="1"/>
          <p:nvPr/>
        </p:nvSpPr>
        <p:spPr>
          <a:xfrm>
            <a:off x="487680" y="3233943"/>
            <a:ext cx="6138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How new curtailment was applied:</a:t>
            </a:r>
          </a:p>
          <a:p>
            <a:pPr algn="l">
              <a:spcAft>
                <a:spcPts val="1200"/>
              </a:spcAft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"renewable curtailment penalty" option in 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PCM</a:t>
            </a:r>
          </a:p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Use threshold penalty as proxies to influence dispatch, curtailment, and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lmp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outcomes.</a:t>
            </a:r>
          </a:p>
          <a:p>
            <a:pPr algn="l">
              <a:spcAft>
                <a:spcPts val="1200"/>
              </a:spcAft>
              <a:buNone/>
            </a:pPr>
            <a:endParaRPr lang="en-US" b="0" i="0" dirty="0">
              <a:solidFill>
                <a:srgbClr val="000000"/>
              </a:solidFill>
              <a:effectLst/>
              <a:highlight>
                <a:srgbClr val="00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Hydro Q1 Check: No Material Improvement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Hydro inclusion does not uplift LMP alignment in current setup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822113"/>
              </p:ext>
            </p:extLst>
          </p:nvPr>
        </p:nvGraphicFramePr>
        <p:xfrm>
          <a:off x="457200" y="1965960"/>
          <a:ext cx="9372600" cy="15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Weighted LMP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Floor-hit share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Hydro Btheta UC+ED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1.07%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-1000.0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276.6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Hydro Btheta UC-only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-1000.0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276.2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No-hydro Benchmark Q1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8.26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1.07%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-1000.0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368.0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0110" y="6304002"/>
            <a:ext cx="663202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/>
              <a:t>Hydro UC+ED and hydro UC-only </a:t>
            </a:r>
            <a:r>
              <a:rPr lang="en-GB" sz="1500" b="1" dirty="0"/>
              <a:t>results were</a:t>
            </a:r>
            <a:r>
              <a:rPr sz="1500" b="1" dirty="0"/>
              <a:t> very close to no-hydro Q1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F96AC-622A-0F43-1D6A-9EE21054C3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457200" y="3650976"/>
            <a:ext cx="7772400" cy="24301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rPr dirty="0"/>
              <a:t>Decisions </a:t>
            </a:r>
            <a:r>
              <a:rPr lang="en-GB" dirty="0"/>
              <a:t>points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Lock scope before deeper simulation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GB" sz="1700" b="1" dirty="0">
                <a:solidFill>
                  <a:srgbClr val="333333"/>
                </a:solidFill>
              </a:rPr>
              <a:t>1. </a:t>
            </a:r>
            <a:r>
              <a:rPr sz="1700" b="1" dirty="0">
                <a:solidFill>
                  <a:srgbClr val="333333"/>
                </a:solidFill>
              </a:rPr>
              <a:t>Prioritize structural alignment (renewables/chronology/pricing) before hydro expansion.</a:t>
            </a:r>
          </a:p>
          <a:p>
            <a:pPr>
              <a:spcAft>
                <a:spcPts val="500"/>
              </a:spcAft>
            </a:pPr>
            <a:r>
              <a:rPr lang="en-GB" sz="1700" b="1">
                <a:solidFill>
                  <a:srgbClr val="333333"/>
                </a:solidFill>
              </a:rPr>
              <a:t>2. </a:t>
            </a:r>
            <a:r>
              <a:rPr sz="1700" b="1">
                <a:solidFill>
                  <a:srgbClr val="333333"/>
                </a:solidFill>
              </a:rPr>
              <a:t>Define </a:t>
            </a:r>
            <a:r>
              <a:rPr sz="1700" b="1" dirty="0">
                <a:solidFill>
                  <a:srgbClr val="333333"/>
                </a:solidFill>
              </a:rPr>
              <a:t>success criteria as sign/trend alignment first, magnitude second.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621</Words>
  <Application>Microsoft Macintosh PowerPoint</Application>
  <PresentationFormat>Widescreen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Kay Lu</cp:lastModifiedBy>
  <cp:revision>3</cp:revision>
  <dcterms:created xsi:type="dcterms:W3CDTF">2013-01-27T09:14:16Z</dcterms:created>
  <dcterms:modified xsi:type="dcterms:W3CDTF">2026-03-03T07:26:27Z</dcterms:modified>
  <cp:category/>
</cp:coreProperties>
</file>